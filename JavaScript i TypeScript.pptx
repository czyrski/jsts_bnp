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1D_6D6CA824.xml" ContentType="application/vnd.ms-powerpoint.comments+xml"/>
  <Override PartName="/ppt/notesSlides/notesSlide4.xml" ContentType="application/vnd.openxmlformats-officedocument.presentationml.notesSlide+xml"/>
  <Override PartName="/ppt/comments/modernComment_127_F67E2FEB.xml" ContentType="application/vnd.ms-powerpoint.comments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46"/>
  </p:notesMasterIdLst>
  <p:sldIdLst>
    <p:sldId id="256" r:id="rId2"/>
    <p:sldId id="284" r:id="rId3"/>
    <p:sldId id="285" r:id="rId4"/>
    <p:sldId id="286" r:id="rId5"/>
    <p:sldId id="290" r:id="rId6"/>
    <p:sldId id="287" r:id="rId7"/>
    <p:sldId id="288" r:id="rId8"/>
    <p:sldId id="289" r:id="rId9"/>
    <p:sldId id="291" r:id="rId10"/>
    <p:sldId id="292" r:id="rId11"/>
    <p:sldId id="293" r:id="rId12"/>
    <p:sldId id="294" r:id="rId13"/>
    <p:sldId id="295" r:id="rId14"/>
    <p:sldId id="296" r:id="rId15"/>
    <p:sldId id="297" r:id="rId16"/>
    <p:sldId id="299" r:id="rId17"/>
    <p:sldId id="298" r:id="rId18"/>
    <p:sldId id="300" r:id="rId19"/>
    <p:sldId id="301" r:id="rId20"/>
    <p:sldId id="302" r:id="rId21"/>
    <p:sldId id="303" r:id="rId22"/>
    <p:sldId id="304" r:id="rId23"/>
    <p:sldId id="305" r:id="rId24"/>
    <p:sldId id="306" r:id="rId25"/>
    <p:sldId id="307" r:id="rId26"/>
    <p:sldId id="308" r:id="rId27"/>
    <p:sldId id="309" r:id="rId28"/>
    <p:sldId id="310" r:id="rId29"/>
    <p:sldId id="311" r:id="rId30"/>
    <p:sldId id="312" r:id="rId31"/>
    <p:sldId id="318" r:id="rId32"/>
    <p:sldId id="313" r:id="rId33"/>
    <p:sldId id="314" r:id="rId34"/>
    <p:sldId id="315" r:id="rId35"/>
    <p:sldId id="316" r:id="rId36"/>
    <p:sldId id="317" r:id="rId37"/>
    <p:sldId id="319" r:id="rId38"/>
    <p:sldId id="320" r:id="rId39"/>
    <p:sldId id="321" r:id="rId40"/>
    <p:sldId id="322" r:id="rId41"/>
    <p:sldId id="323" r:id="rId42"/>
    <p:sldId id="324" r:id="rId43"/>
    <p:sldId id="325" r:id="rId44"/>
    <p:sldId id="326" r:id="rId45"/>
  </p:sldIdLst>
  <p:sldSz cx="12192000" cy="6858000"/>
  <p:notesSz cx="6858000" cy="9144000"/>
  <p:embeddedFontLst>
    <p:embeddedFont>
      <p:font typeface="Poppins" panose="00000500000000000000" pitchFamily="2" charset="0"/>
      <p:regular r:id="rId47"/>
      <p:bold r:id="rId48"/>
      <p:italic r:id="rId49"/>
      <p:boldItalic r:id="rId50"/>
    </p:embeddedFont>
    <p:embeddedFont>
      <p:font typeface="Poppins Black" panose="00000A00000000000000" pitchFamily="2" charset="0"/>
      <p:bold r:id="rId51"/>
      <p:italic r:id="rId52"/>
      <p:boldItalic r:id="rId53"/>
    </p:embeddedFont>
    <p:embeddedFont>
      <p:font typeface="Poppins Light" panose="00000400000000000000" pitchFamily="2" charset="0"/>
      <p:regular r:id="rId54"/>
      <p:bold r:id="rId55"/>
      <p:italic r:id="rId56"/>
      <p:boldItalic r:id="rId57"/>
    </p:embeddedFont>
    <p:embeddedFont>
      <p:font typeface="Poppins Medium" panose="00000600000000000000" pitchFamily="2" charset="0"/>
      <p:regular r:id="rId58"/>
      <p:bold r:id="rId59"/>
      <p:italic r:id="rId60"/>
      <p:boldItalic r:id="rId6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6E39B8D-B457-FE6D-3C77-89ED0FDBF4FB}" name="Igor Czyrski" initials="IC" userId="S::igor.czyrski@niceproject.eu::df750820-bd22-4daa-8429-73cb204271d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ACFF40F-6864-4E23-A38A-F3DD8219100D}">
  <a:tblStyle styleId="{9ACFF40F-6864-4E23-A38A-F3DD8219100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>
        <p:scale>
          <a:sx n="50" d="100"/>
          <a:sy n="50" d="100"/>
        </p:scale>
        <p:origin x="1263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8" Type="http://schemas.openxmlformats.org/officeDocument/2006/relationships/font" Target="fonts/font12.fntdata"/><Relationship Id="rId66" Type="http://schemas.microsoft.com/office/2018/10/relationships/authors" Target="authors.xml"/><Relationship Id="rId5" Type="http://schemas.openxmlformats.org/officeDocument/2006/relationships/slide" Target="slides/slide4.xml"/><Relationship Id="rId61" Type="http://schemas.openxmlformats.org/officeDocument/2006/relationships/font" Target="fonts/font15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56" Type="http://schemas.openxmlformats.org/officeDocument/2006/relationships/font" Target="fonts/font10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59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57" Type="http://schemas.openxmlformats.org/officeDocument/2006/relationships/font" Target="fonts/font1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60" Type="http://schemas.openxmlformats.org/officeDocument/2006/relationships/font" Target="fonts/font14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omments/modernComment_11D_6D6CA8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C2122E9-9FCF-4454-B8CC-7DDBB8D92DAE}" authorId="{06E39B8D-B457-FE6D-3C77-89ED0FDBF4FB}" created="2025-11-22T17:18:24.108">
    <pc:sldMkLst xmlns:pc="http://schemas.microsoft.com/office/powerpoint/2013/main/command">
      <pc:docMk/>
      <pc:sldMk cId="1835837476" sldId="285"/>
    </pc:sldMkLst>
    <p188:txBody>
      <a:bodyPr/>
      <a:lstStyle/>
      <a:p>
        <a:r>
          <a:rPr lang="en-GB"/>
          <a:t>Podstawy DOM do agendy </a:t>
        </a:r>
      </a:p>
    </p188:txBody>
  </p188:cm>
</p188:cmLst>
</file>

<file path=ppt/comments/modernComment_127_F67E2F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AEEB9D-500A-48CC-BDAC-125179AB33E7}" authorId="{06E39B8D-B457-FE6D-3C77-89ED0FDBF4FB}" created="2025-11-22T17:19:05.124">
    <pc:sldMkLst xmlns:pc="http://schemas.microsoft.com/office/powerpoint/2013/main/command">
      <pc:docMk/>
      <pc:sldMk cId="4135464939" sldId="295"/>
    </pc:sldMkLst>
    <p188:txBody>
      <a:bodyPr/>
      <a:lstStyle/>
      <a:p>
        <a:r>
          <a:rPr lang="en-GB"/>
          <a:t>Trzeba sprawdzić tsconfig.json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1dcda8c17e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123" name="Google Shape;123;g11dcda8c17e_0_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52145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969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216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3718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0" y="3567375"/>
            <a:ext cx="12192000" cy="452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2pPr>
            <a:lvl3pPr lvl="2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3pPr>
            <a:lvl4pPr lvl="3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4pPr>
            <a:lvl5pPr lvl="4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5pPr>
            <a:lvl6pPr lvl="5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6pPr>
            <a:lvl7pPr lvl="6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7pPr>
            <a:lvl8pPr lvl="7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8pPr>
            <a:lvl9pPr lvl="8" algn="ctr"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500">
                <a:solidFill>
                  <a:schemeClr val="lt2"/>
                </a:solidFill>
              </a:defRPr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0" y="2833950"/>
            <a:ext cx="121920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Calibri"/>
              <a:buNone/>
              <a:defRPr sz="48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endParaRPr dirty="0"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99690" y="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/>
        </p:nvSpPr>
        <p:spPr>
          <a:xfrm>
            <a:off x="0" y="6262979"/>
            <a:ext cx="12192000" cy="44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pl-PL" sz="1400" b="0" i="0" u="none" strike="noStrike" cap="none" dirty="0" err="1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400" b="0" i="0" u="none" strike="noStrike" cap="none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4217550" y="6707875"/>
            <a:ext cx="3756900" cy="1500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llo">
  <p:cSld name="CUSTOM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-1" y="1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532713" y="2274094"/>
            <a:ext cx="40545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0B32"/>
              </a:buClr>
              <a:buSzPts val="6000"/>
              <a:buFont typeface="Poppins Black"/>
              <a:buNone/>
            </a:pPr>
            <a:r>
              <a:rPr lang="pl-PL" sz="6000" dirty="0">
                <a:solidFill>
                  <a:srgbClr val="F20B32"/>
                </a:solidFill>
                <a:latin typeface="Poppins Black"/>
                <a:ea typeface="Poppins Black"/>
                <a:cs typeface="Poppins Black"/>
                <a:sym typeface="Poppins Black"/>
              </a:rPr>
              <a:t>HELLO</a:t>
            </a:r>
            <a:endParaRPr sz="6000" dirty="0">
              <a:solidFill>
                <a:srgbClr val="F20B32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27" name="Google Shape;27;p4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" name="Google Shape;30;p4"/>
          <p:cNvSpPr txBox="1"/>
          <p:nvPr/>
        </p:nvSpPr>
        <p:spPr>
          <a:xfrm>
            <a:off x="2480733" y="2819400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606971" y="2862797"/>
            <a:ext cx="3585000" cy="3995100"/>
          </a:xfrm>
          <a:prstGeom prst="rect">
            <a:avLst/>
          </a:prstGeom>
          <a:solidFill>
            <a:srgbClr val="F20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938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7592598" y="1980287"/>
            <a:ext cx="2879935" cy="2879935"/>
          </a:xfrm>
          <a:prstGeom prst="ellipse">
            <a:avLst/>
          </a:prstGeom>
          <a:solidFill>
            <a:srgbClr val="F20B3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532725" y="3122175"/>
            <a:ext cx="6806700" cy="681000"/>
          </a:xfrm>
          <a:prstGeom prst="rect">
            <a:avLst/>
          </a:prstGeom>
        </p:spPr>
        <p:txBody>
          <a:bodyPr spcFirstLastPara="1" wrap="square" lIns="91425" tIns="82800" rIns="91425" bIns="91425" anchor="t" anchorCtr="0">
            <a:noAutofit/>
          </a:bodyPr>
          <a:lstStyle>
            <a:lvl1pPr marL="228600" marR="0" lvl="0" indent="-22860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359B98"/>
              </a:buClr>
              <a:buSzPts val="3600"/>
              <a:buFont typeface="Noto Sans Symbols"/>
              <a:buNone/>
              <a:defRPr sz="36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50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body" idx="2"/>
          </p:nvPr>
        </p:nvSpPr>
        <p:spPr>
          <a:xfrm>
            <a:off x="615400" y="3765100"/>
            <a:ext cx="6171600" cy="88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rtl="0">
              <a:spcBef>
                <a:spcPts val="1000"/>
              </a:spcBef>
              <a:spcAft>
                <a:spcPts val="0"/>
              </a:spcAft>
              <a:buSzPts val="1800"/>
              <a:buFont typeface="Poppins Light"/>
              <a:buChar char="•"/>
              <a:defRPr sz="1800"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17500" rtl="0">
              <a:spcBef>
                <a:spcPts val="500"/>
              </a:spcBef>
              <a:spcAft>
                <a:spcPts val="0"/>
              </a:spcAft>
              <a:buSzPts val="1400"/>
              <a:buFont typeface="Poppins Light"/>
              <a:buChar char="•"/>
              <a:defRPr sz="1400"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292100" rtl="0">
              <a:spcBef>
                <a:spcPts val="500"/>
              </a:spcBef>
              <a:spcAft>
                <a:spcPts val="0"/>
              </a:spcAft>
              <a:buSzPts val="1000"/>
              <a:buFont typeface="Poppins Light"/>
              <a:buChar char="•"/>
              <a:defRPr sz="1000"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279400" rtl="0"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279400" rtl="0"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279400" rtl="0"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279400" rtl="0"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279400" rtl="0"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279400" rtl="0">
              <a:spcBef>
                <a:spcPts val="500"/>
              </a:spcBef>
              <a:spcAft>
                <a:spcPts val="0"/>
              </a:spcAft>
              <a:buSzPts val="800"/>
              <a:buFont typeface="Poppins Light"/>
              <a:buChar char="•"/>
              <a:defRPr sz="8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slide">
  <p:cSld name="White slid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/>
          <p:nvPr/>
        </p:nvSpPr>
        <p:spPr>
          <a:xfrm>
            <a:off x="-1" y="1"/>
            <a:ext cx="12192000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"/>
          <p:cNvSpPr txBox="1">
            <a:spLocks noGrp="1"/>
          </p:cNvSpPr>
          <p:nvPr>
            <p:ph type="title"/>
          </p:nvPr>
        </p:nvSpPr>
        <p:spPr>
          <a:xfrm>
            <a:off x="1110175" y="466650"/>
            <a:ext cx="10243500" cy="509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Poppins"/>
              <a:buNone/>
              <a:defRPr sz="3200"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grpSp>
        <p:nvGrpSpPr>
          <p:cNvPr id="49" name="Google Shape;49;p6"/>
          <p:cNvGrpSpPr/>
          <p:nvPr/>
        </p:nvGrpSpPr>
        <p:grpSpPr>
          <a:xfrm>
            <a:off x="240796" y="202373"/>
            <a:ext cx="795017" cy="672375"/>
            <a:chOff x="554063" y="2615373"/>
            <a:chExt cx="795017" cy="672375"/>
          </a:xfrm>
        </p:grpSpPr>
        <p:sp>
          <p:nvSpPr>
            <p:cNvPr id="50" name="Google Shape;50;p6"/>
            <p:cNvSpPr/>
            <p:nvPr/>
          </p:nvSpPr>
          <p:spPr>
            <a:xfrm>
              <a:off x="845980" y="2784648"/>
              <a:ext cx="503100" cy="503100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6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6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3" name="Google Shape;53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99380" y="577800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>
            <a:spLocks noGrp="1"/>
          </p:cNvSpPr>
          <p:nvPr>
            <p:ph type="body" idx="1"/>
          </p:nvPr>
        </p:nvSpPr>
        <p:spPr>
          <a:xfrm>
            <a:off x="312750" y="1239900"/>
            <a:ext cx="11566500" cy="4538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55600">
              <a:spcBef>
                <a:spcPts val="1000"/>
              </a:spcBef>
              <a:spcAft>
                <a:spcPts val="0"/>
              </a:spcAft>
              <a:buSzPts val="2000"/>
              <a:buChar char="•"/>
              <a:defRPr sz="2000"/>
            </a:lvl1pPr>
            <a:lvl2pPr marL="914400" lvl="1" indent="-330200">
              <a:spcBef>
                <a:spcPts val="500"/>
              </a:spcBef>
              <a:spcAft>
                <a:spcPts val="0"/>
              </a:spcAft>
              <a:buSzPts val="1600"/>
              <a:buChar char="•"/>
              <a:defRPr sz="1600"/>
            </a:lvl2pPr>
            <a:lvl3pPr marL="1371600" lvl="2" indent="-304800">
              <a:spcBef>
                <a:spcPts val="5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4pPr>
            <a:lvl5pPr marL="2286000" lvl="4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5pPr>
            <a:lvl6pPr marL="2743200" lvl="5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6pPr>
            <a:lvl7pPr marL="3200400" lvl="6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7pPr>
            <a:lvl8pPr marL="3657600" lvl="7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8pPr>
            <a:lvl9pPr marL="4114800" lvl="8" indent="-292100">
              <a:spcBef>
                <a:spcPts val="500"/>
              </a:spcBef>
              <a:spcAft>
                <a:spcPts val="0"/>
              </a:spcAft>
              <a:buSzPts val="1000"/>
              <a:buChar char="•"/>
              <a:defRPr sz="1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5272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 Medium"/>
              <a:buNone/>
              <a:defRPr sz="4400" i="0" u="none" strike="noStrik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Poppins Medium"/>
              <a:buNone/>
              <a:defRPr sz="1800" i="0" u="none" strike="noStrike" cap="none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7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oppins Light"/>
              <a:buChar char="•"/>
              <a:defRPr sz="2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619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oppins Light"/>
              <a:buChar char="•"/>
              <a:defRPr sz="21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365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 Light"/>
              <a:buChar char="•"/>
              <a:defRPr sz="17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 Light"/>
              <a:buChar char="•"/>
              <a:defRPr sz="150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6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D_6D6CA82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microsoft.com/office/2018/10/relationships/comments" Target="../comments/modernComment_127_F67E2FEB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ode.visualstudio.com/Download" TargetMode="Externa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ctrTitle"/>
          </p:nvPr>
        </p:nvSpPr>
        <p:spPr>
          <a:xfrm>
            <a:off x="0" y="2833950"/>
            <a:ext cx="12192000" cy="8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oppins Black"/>
              <a:buNone/>
            </a:pPr>
            <a:r>
              <a:rPr lang="pl-PL" sz="4800" dirty="0">
                <a:solidFill>
                  <a:schemeClr val="lt1"/>
                </a:solidFill>
                <a:latin typeface="Poppins Black"/>
                <a:ea typeface="Poppins Black"/>
                <a:cs typeface="Poppins Black"/>
                <a:sym typeface="Poppins Black"/>
              </a:rPr>
              <a:t>Podstawy TypeScript</a:t>
            </a:r>
            <a:endParaRPr sz="4800" dirty="0">
              <a:solidFill>
                <a:schemeClr val="lt1"/>
              </a:solidFill>
              <a:latin typeface="Poppins Black"/>
              <a:ea typeface="Poppins Black"/>
              <a:cs typeface="Poppins Black"/>
              <a:sym typeface="Poppins Black"/>
            </a:endParaRPr>
          </a:p>
        </p:txBody>
      </p:sp>
      <p:sp>
        <p:nvSpPr>
          <p:cNvPr id="118" name="Google Shape;118;p14"/>
          <p:cNvSpPr txBox="1">
            <a:spLocks noGrp="1"/>
          </p:cNvSpPr>
          <p:nvPr>
            <p:ph type="subTitle" idx="1"/>
          </p:nvPr>
        </p:nvSpPr>
        <p:spPr>
          <a:xfrm>
            <a:off x="0" y="3567375"/>
            <a:ext cx="12192000" cy="4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pl-PL" dirty="0" err="1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</a:t>
            </a:r>
            <a:r>
              <a:rPr lang="pl-PL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pl-PL" dirty="0" err="1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Academy</a:t>
            </a:r>
            <a:endParaRPr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19" name="Google Shape;11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9690" y="0"/>
            <a:ext cx="1992620" cy="10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4"/>
          <p:cNvSpPr txBox="1"/>
          <p:nvPr/>
        </p:nvSpPr>
        <p:spPr>
          <a:xfrm>
            <a:off x="0" y="6262979"/>
            <a:ext cx="12192000" cy="44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pl-PL" sz="1400" b="0" i="0" u="none" strike="noStrike" cap="none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infoShareAcademy.com</a:t>
            </a:r>
            <a:endParaRPr sz="14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>
            <a:spLocks noGrp="1"/>
          </p:cNvSpPr>
          <p:nvPr>
            <p:ph type="subTitle" idx="1"/>
          </p:nvPr>
        </p:nvSpPr>
        <p:spPr>
          <a:xfrm>
            <a:off x="532725" y="3122175"/>
            <a:ext cx="6806700" cy="681000"/>
          </a:xfrm>
          <a:prstGeom prst="rect">
            <a:avLst/>
          </a:prstGeom>
        </p:spPr>
        <p:txBody>
          <a:bodyPr spcFirstLastPara="1" wrap="square" lIns="91425" tIns="82800" rIns="91425" bIns="91425" anchor="t" anchorCtr="0">
            <a:noAutofit/>
          </a:bodyPr>
          <a:lstStyle/>
          <a:p>
            <a:pPr marL="0" lvl="0" indent="0" algn="l" rtl="0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359B98"/>
              </a:buClr>
              <a:buSzPts val="1018"/>
              <a:buFont typeface="Noto Sans Symbols"/>
              <a:buNone/>
            </a:pPr>
            <a:r>
              <a:rPr lang="pl-PL" sz="3630" dirty="0"/>
              <a:t>IGOR CZYRSKI</a:t>
            </a:r>
            <a:endParaRPr sz="3630" dirty="0"/>
          </a:p>
        </p:txBody>
      </p:sp>
      <p:sp>
        <p:nvSpPr>
          <p:cNvPr id="126" name="Google Shape;126;p15"/>
          <p:cNvSpPr txBox="1">
            <a:spLocks noGrp="1"/>
          </p:cNvSpPr>
          <p:nvPr>
            <p:ph type="body" idx="2"/>
          </p:nvPr>
        </p:nvSpPr>
        <p:spPr>
          <a:xfrm>
            <a:off x="615400" y="4261558"/>
            <a:ext cx="6171600" cy="187406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l-PL" dirty="0"/>
              <a:t>Tester automatyzujący (6+ exp)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lang="pl-PL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pl-PL" dirty="0"/>
              <a:t>Python, JS/TS, Robot Framework, Playwright, Cypress, Storybook, Docker, CI/CD</a:t>
            </a:r>
            <a:br>
              <a:rPr lang="pl-PL" dirty="0"/>
            </a:br>
            <a:br>
              <a:rPr lang="pl-PL" dirty="0"/>
            </a:br>
            <a:r>
              <a:rPr lang="pl-PL" dirty="0"/>
              <a:t>Obecnie zajmuje się testowaniem aplikacji webowych</a:t>
            </a:r>
          </a:p>
        </p:txBody>
      </p:sp>
      <p:pic>
        <p:nvPicPr>
          <p:cNvPr id="5" name="Picture 4" descr="A person wearing round glasses&#10;&#10;Description automatically generated">
            <a:extLst>
              <a:ext uri="{FF2B5EF4-FFF2-40B4-BE49-F238E27FC236}">
                <a16:creationId xmlns:a16="http://schemas.microsoft.com/office/drawing/2014/main" id="{EFFBD19F-2A1D-E165-5E7A-A41307A5FD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398" y="2128983"/>
            <a:ext cx="2600034" cy="2600034"/>
          </a:xfrm>
          <a:prstGeom prst="ellipse">
            <a:avLst/>
          </a:prstGeom>
          <a:ln w="63500" cap="rnd"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5139551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>
            <a:spLocks noGrp="1"/>
          </p:cNvSpPr>
          <p:nvPr>
            <p:ph type="title"/>
          </p:nvPr>
        </p:nvSpPr>
        <p:spPr>
          <a:xfrm>
            <a:off x="1110175" y="466650"/>
            <a:ext cx="10243500" cy="5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</a:pPr>
            <a:r>
              <a:rPr lang="pl-PL" dirty="0">
                <a:latin typeface="Poppins Black"/>
                <a:ea typeface="Poppins Black"/>
                <a:cs typeface="Poppins Black"/>
                <a:sym typeface="Poppins Black"/>
              </a:rPr>
              <a:t>Agenda dzisiejszego </a:t>
            </a:r>
            <a:r>
              <a:rPr lang="pl-PL" dirty="0">
                <a:solidFill>
                  <a:srgbClr val="F20B32"/>
                </a:solidFill>
                <a:latin typeface="Poppins Black"/>
                <a:ea typeface="Poppins Black"/>
                <a:cs typeface="Poppins Black"/>
                <a:sym typeface="Poppins Black"/>
              </a:rPr>
              <a:t>dnia</a:t>
            </a:r>
          </a:p>
        </p:txBody>
      </p:sp>
      <p:grpSp>
        <p:nvGrpSpPr>
          <p:cNvPr id="156" name="Google Shape;156;p18"/>
          <p:cNvGrpSpPr/>
          <p:nvPr/>
        </p:nvGrpSpPr>
        <p:grpSpPr>
          <a:xfrm>
            <a:off x="240796" y="202373"/>
            <a:ext cx="795002" cy="672360"/>
            <a:chOff x="554063" y="2615373"/>
            <a:chExt cx="795002" cy="672360"/>
          </a:xfrm>
        </p:grpSpPr>
        <p:sp>
          <p:nvSpPr>
            <p:cNvPr id="157" name="Google Shape;157;p18"/>
            <p:cNvSpPr/>
            <p:nvPr/>
          </p:nvSpPr>
          <p:spPr>
            <a:xfrm>
              <a:off x="845980" y="2784648"/>
              <a:ext cx="503085" cy="503085"/>
            </a:xfrm>
            <a:prstGeom prst="ellipse">
              <a:avLst/>
            </a:prstGeom>
            <a:solidFill>
              <a:srgbClr val="F20B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18"/>
            <p:cNvSpPr/>
            <p:nvPr/>
          </p:nvSpPr>
          <p:spPr>
            <a:xfrm>
              <a:off x="554063" y="2934378"/>
              <a:ext cx="216000" cy="216000"/>
            </a:xfrm>
            <a:prstGeom prst="ellipse">
              <a:avLst/>
            </a:prstGeom>
            <a:solidFill>
              <a:srgbClr val="5500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18"/>
            <p:cNvSpPr/>
            <p:nvPr/>
          </p:nvSpPr>
          <p:spPr>
            <a:xfrm>
              <a:off x="685097" y="2615373"/>
              <a:ext cx="216000" cy="216000"/>
            </a:xfrm>
            <a:prstGeom prst="ellipse">
              <a:avLst/>
            </a:prstGeom>
            <a:solidFill>
              <a:srgbClr val="01F9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8"/>
          <p:cNvSpPr txBox="1"/>
          <p:nvPr/>
        </p:nvSpPr>
        <p:spPr>
          <a:xfrm>
            <a:off x="2480733" y="28194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 txBox="1">
            <a:spLocks noGrp="1"/>
          </p:cNvSpPr>
          <p:nvPr>
            <p:ph type="body" idx="1"/>
          </p:nvPr>
        </p:nvSpPr>
        <p:spPr>
          <a:xfrm>
            <a:off x="651675" y="1853250"/>
            <a:ext cx="9991941" cy="4538100"/>
          </a:xfrm>
          <a:prstGeom prst="rect">
            <a:avLst/>
          </a:prstGeom>
        </p:spPr>
        <p:txBody>
          <a:bodyPr spcFirstLastPara="1" wrap="square" lIns="91425" tIns="45700" rIns="91425" bIns="45700" numCol="1" anchor="t" anchorCtr="0">
            <a:normAutofit/>
          </a:bodyPr>
          <a:lstStyle/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Czym jest JavaScript oraz TypeScript?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Co jest potrzebne do pracy z TypeScript?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Zmienne, typy danych, operatory, instrukcje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Pętle, iteracje, funkcje, funkcje strzałkowe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Obiekty i tablice</a:t>
            </a:r>
          </a:p>
          <a:p>
            <a:pPr lvl="0" indent="-457200" algn="l" rtl="0">
              <a:spcBef>
                <a:spcPts val="1000"/>
              </a:spcBef>
              <a:spcAft>
                <a:spcPts val="0"/>
              </a:spcAft>
              <a:buAutoNum type="arabicPeriod"/>
            </a:pPr>
            <a:r>
              <a:rPr lang="pl-PL" dirty="0"/>
              <a:t>Asercje</a:t>
            </a:r>
          </a:p>
        </p:txBody>
      </p:sp>
    </p:spTree>
    <p:extLst>
      <p:ext uri="{BB962C8B-B14F-4D97-AF65-F5344CB8AC3E}">
        <p14:creationId xmlns:p14="http://schemas.microsoft.com/office/powerpoint/2010/main" val="18358374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DBF65143-8D87-1B50-AA61-5F5D0EB2AE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dirty="0"/>
              <a:t>I dlaczego warto go poznać?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856885-AE03-40B8-8A69-CCCC9EF8493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Czym jest JavaScript i TypeScript?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3002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8028D8D4-CD3E-6FC3-6418-DDC4ABCCA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>
                <a:solidFill>
                  <a:srgbClr val="FF0000"/>
                </a:solidFill>
              </a:rPr>
              <a:t>J</a:t>
            </a:r>
            <a:r>
              <a:rPr lang="pl-PL" dirty="0"/>
              <a:t>ava</a:t>
            </a:r>
            <a:r>
              <a:rPr lang="pl-PL" dirty="0">
                <a:solidFill>
                  <a:srgbClr val="FF0000"/>
                </a:solidFill>
              </a:rPr>
              <a:t>S</a:t>
            </a:r>
            <a:r>
              <a:rPr lang="pl-PL" dirty="0"/>
              <a:t>cript vs. </a:t>
            </a:r>
            <a:r>
              <a:rPr lang="pl-PL" dirty="0">
                <a:solidFill>
                  <a:srgbClr val="FF0000"/>
                </a:solidFill>
              </a:rPr>
              <a:t>T</a:t>
            </a:r>
            <a:r>
              <a:rPr lang="pl-PL" dirty="0"/>
              <a:t>ype</a:t>
            </a:r>
            <a:r>
              <a:rPr lang="pl-PL" dirty="0">
                <a:solidFill>
                  <a:srgbClr val="FF0000"/>
                </a:solidFill>
              </a:rPr>
              <a:t>S</a:t>
            </a:r>
            <a:r>
              <a:rPr lang="pl-PL" dirty="0"/>
              <a:t>cript</a:t>
            </a:r>
            <a:endParaRPr lang="en-GB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78C608A-E990-4593-48D6-E9829FC05C3F}"/>
              </a:ext>
            </a:extLst>
          </p:cNvPr>
          <p:cNvGrpSpPr/>
          <p:nvPr/>
        </p:nvGrpSpPr>
        <p:grpSpPr>
          <a:xfrm>
            <a:off x="3703320" y="1249680"/>
            <a:ext cx="4785360" cy="4701540"/>
            <a:chOff x="3703320" y="1249680"/>
            <a:chExt cx="4785360" cy="4701540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80AF877F-B9AA-1EAD-5BEC-C5DCC421F1EA}"/>
                </a:ext>
              </a:extLst>
            </p:cNvPr>
            <p:cNvGrpSpPr/>
            <p:nvPr/>
          </p:nvGrpSpPr>
          <p:grpSpPr>
            <a:xfrm>
              <a:off x="3703320" y="1249680"/>
              <a:ext cx="4785360" cy="4701540"/>
              <a:chOff x="3703320" y="1249680"/>
              <a:chExt cx="4785360" cy="470154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3BB60E51-EB6B-C9A5-EBF5-DE1D563839DF}"/>
                  </a:ext>
                </a:extLst>
              </p:cNvPr>
              <p:cNvSpPr/>
              <p:nvPr/>
            </p:nvSpPr>
            <p:spPr>
              <a:xfrm>
                <a:off x="3703320" y="1249680"/>
                <a:ext cx="4785360" cy="4701540"/>
              </a:xfrm>
              <a:prstGeom prst="ellipse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b="1"/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C04B60BA-E9D9-5131-652E-B94D16D7F30A}"/>
                  </a:ext>
                </a:extLst>
              </p:cNvPr>
              <p:cNvSpPr/>
              <p:nvPr/>
            </p:nvSpPr>
            <p:spPr>
              <a:xfrm>
                <a:off x="5524500" y="3124200"/>
                <a:ext cx="2423160" cy="2263140"/>
              </a:xfrm>
              <a:prstGeom prst="ellipse">
                <a:avLst/>
              </a:pr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400" b="1"/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4400956-B39C-087E-856D-5351C48C96A3}"/>
                  </a:ext>
                </a:extLst>
              </p:cNvPr>
              <p:cNvSpPr txBox="1"/>
              <p:nvPr/>
            </p:nvSpPr>
            <p:spPr>
              <a:xfrm>
                <a:off x="4046220" y="2423160"/>
                <a:ext cx="33070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l-PL" sz="2400" b="1" dirty="0"/>
                  <a:t>TYPESCRIPT</a:t>
                </a:r>
                <a:endParaRPr lang="en-GB" sz="2400" b="1" dirty="0"/>
              </a:p>
            </p:txBody>
          </p: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DDBFD10-277E-F90B-CF45-33142DFD479B}"/>
                </a:ext>
              </a:extLst>
            </p:cNvPr>
            <p:cNvSpPr txBox="1"/>
            <p:nvPr/>
          </p:nvSpPr>
          <p:spPr>
            <a:xfrm>
              <a:off x="5608320" y="3846641"/>
              <a:ext cx="17449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l-PL" sz="1800" b="1" dirty="0"/>
                <a:t>JAVASCRIPT</a:t>
              </a:r>
              <a:endParaRPr lang="en-GB" sz="18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061556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1CDCE11-011B-B35E-E730-9F1DE2179E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Czym jest </a:t>
            </a:r>
            <a:r>
              <a:rPr lang="pl-PL" dirty="0">
                <a:solidFill>
                  <a:srgbClr val="FF0000"/>
                </a:solidFill>
              </a:rPr>
              <a:t>J</a:t>
            </a:r>
            <a:r>
              <a:rPr lang="pl-PL" dirty="0"/>
              <a:t>ava</a:t>
            </a:r>
            <a:r>
              <a:rPr lang="pl-PL" dirty="0">
                <a:solidFill>
                  <a:srgbClr val="FF0000"/>
                </a:solidFill>
              </a:rPr>
              <a:t>S</a:t>
            </a:r>
            <a:r>
              <a:rPr lang="pl-PL" dirty="0">
                <a:solidFill>
                  <a:schemeClr val="tx1"/>
                </a:solidFill>
              </a:rPr>
              <a:t>cript</a:t>
            </a:r>
            <a:r>
              <a:rPr lang="pl-PL" dirty="0"/>
              <a:t> (</a:t>
            </a:r>
            <a:r>
              <a:rPr lang="pl-PL" dirty="0">
                <a:solidFill>
                  <a:srgbClr val="FF0000"/>
                </a:solidFill>
              </a:rPr>
              <a:t>JS</a:t>
            </a:r>
            <a:r>
              <a:rPr lang="pl-PL" dirty="0"/>
              <a:t>)?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4B184C-F500-CE69-1ADF-49F216E95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239900"/>
            <a:ext cx="11566500" cy="5044894"/>
          </a:xfrm>
        </p:spPr>
        <p:txBody>
          <a:bodyPr>
            <a:normAutofit/>
          </a:bodyPr>
          <a:lstStyle/>
          <a:p>
            <a:pPr marL="101600" indent="0">
              <a:spcBef>
                <a:spcPts val="800"/>
              </a:spcBef>
              <a:buNone/>
            </a:pPr>
            <a:r>
              <a:rPr lang="pl-PL" b="1" dirty="0">
                <a:solidFill>
                  <a:srgbClr val="FF0000"/>
                </a:solidFill>
              </a:rPr>
              <a:t>JavaScript</a:t>
            </a:r>
            <a:r>
              <a:rPr lang="pl-PL" dirty="0"/>
              <a:t> to wysokopoziomowy, interpretowany język programowania, który jest głównie wykorzystywany do tworzenia </a:t>
            </a:r>
            <a:r>
              <a:rPr lang="pl-PL" b="1" dirty="0">
                <a:solidFill>
                  <a:srgbClr val="FF0000"/>
                </a:solidFill>
              </a:rPr>
              <a:t>interaktywnych</a:t>
            </a:r>
            <a:r>
              <a:rPr lang="pl-PL" dirty="0"/>
              <a:t> elementów stron internetowych (w przeglądarce).</a:t>
            </a:r>
          </a:p>
          <a:p>
            <a:pPr marL="101600" indent="0">
              <a:spcBef>
                <a:spcPts val="800"/>
              </a:spcBef>
              <a:buNone/>
            </a:pPr>
            <a:endParaRPr lang="pl-PL" dirty="0"/>
          </a:p>
          <a:p>
            <a:pPr marL="101600" indent="0">
              <a:spcBef>
                <a:spcPts val="800"/>
              </a:spcBef>
              <a:buNone/>
            </a:pPr>
            <a:r>
              <a:rPr lang="pl-PL" dirty="0"/>
              <a:t>Jest językiem sieci Web – jednym z trzech filarów rozwoju stron internetowych (HTML, CSS i JS)</a:t>
            </a:r>
            <a:br>
              <a:rPr lang="pl-PL" dirty="0"/>
            </a:br>
            <a:br>
              <a:rPr lang="pl-PL" dirty="0"/>
            </a:br>
            <a:r>
              <a:rPr lang="pl-PL" dirty="0"/>
              <a:t>Jest dynamicznie typowany – oznacza to, że nie musisz deklarować typu zmiennej jawnie, a jej typ </a:t>
            </a:r>
            <a:r>
              <a:rPr lang="pl-PL" dirty="0">
                <a:solidFill>
                  <a:srgbClr val="FF0000"/>
                </a:solidFill>
              </a:rPr>
              <a:t>może się zmieniać </a:t>
            </a:r>
            <a:r>
              <a:rPr lang="pl-PL" dirty="0"/>
              <a:t>w trakcie działania programu.</a:t>
            </a:r>
          </a:p>
          <a:p>
            <a:pPr marL="101600" indent="0">
              <a:spcBef>
                <a:spcPts val="800"/>
              </a:spcBef>
              <a:buNone/>
            </a:pPr>
            <a:endParaRPr lang="pl-PL" dirty="0"/>
          </a:p>
          <a:p>
            <a:pPr marL="101600" indent="0">
              <a:spcBef>
                <a:spcPts val="800"/>
              </a:spcBef>
              <a:buNone/>
            </a:pPr>
            <a:endParaRPr lang="pl-PL" dirty="0"/>
          </a:p>
          <a:p>
            <a:pPr marL="101600" indent="0">
              <a:spcBef>
                <a:spcPts val="800"/>
              </a:spcBef>
              <a:buNone/>
            </a:pPr>
            <a:endParaRPr lang="pl-PL" dirty="0"/>
          </a:p>
          <a:p>
            <a:pPr marL="101600" indent="0">
              <a:spcBef>
                <a:spcPts val="800"/>
              </a:spcBef>
              <a:buNone/>
            </a:pPr>
            <a:r>
              <a:rPr lang="pl-PL" dirty="0"/>
              <a:t>Jest interpretowalny – kod jest wykonywany przez silnik JS (np. V8 w Chrome). Nowoczesne silniki JS tak naprawdę wykonują kompilację JIT.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0AC608-2141-EB93-E89A-B1A64B3B7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275" y="4232425"/>
            <a:ext cx="7971450" cy="72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40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603C4-92F3-ECE4-B837-FAF4852F3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Czym jest </a:t>
            </a:r>
            <a:r>
              <a:rPr lang="pl-PL" dirty="0">
                <a:solidFill>
                  <a:srgbClr val="FF0000"/>
                </a:solidFill>
              </a:rPr>
              <a:t>T</a:t>
            </a:r>
            <a:r>
              <a:rPr lang="pl-PL" dirty="0"/>
              <a:t>ype</a:t>
            </a:r>
            <a:r>
              <a:rPr lang="pl-PL" dirty="0">
                <a:solidFill>
                  <a:srgbClr val="FF0000"/>
                </a:solidFill>
              </a:rPr>
              <a:t>S</a:t>
            </a:r>
            <a:r>
              <a:rPr lang="pl-PL" dirty="0"/>
              <a:t>cript (</a:t>
            </a:r>
            <a:r>
              <a:rPr lang="pl-PL" dirty="0">
                <a:solidFill>
                  <a:srgbClr val="FF0000"/>
                </a:solidFill>
              </a:rPr>
              <a:t>TS</a:t>
            </a:r>
            <a:r>
              <a:rPr lang="pl-PL" dirty="0"/>
              <a:t>)?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554FD-817B-CD1A-D3C1-EFA42E5D1F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b="1" dirty="0">
                <a:solidFill>
                  <a:srgbClr val="FF0000"/>
                </a:solidFill>
              </a:rPr>
              <a:t>TypeScript</a:t>
            </a:r>
            <a:r>
              <a:rPr lang="pl-PL" dirty="0"/>
              <a:t> to "nadzbiór" JavaScriptu, opracowany przez Microsoft. Oznacza to, że </a:t>
            </a:r>
            <a:r>
              <a:rPr lang="pl-PL" b="1" dirty="0">
                <a:solidFill>
                  <a:srgbClr val="FF0000"/>
                </a:solidFill>
              </a:rPr>
              <a:t>każdy poprawny kod JavaScript jest poprawnym kodem TypeScript</a:t>
            </a:r>
            <a:r>
              <a:rPr lang="pl-PL" dirty="0"/>
              <a:t>, ale TS rozwija JS. Pozwala pisać kod JS w bardziej precyzyjny sposób.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Nadbudowuje JS - dodaje przede wszystkim (opcjonalny) statyczny system typów. Pozwala (i zachęca) na jawne deklarowanie typów zmiennych, argumentów funkcji i zwracanych wartości.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Kod TS musi zostać </a:t>
            </a:r>
            <a:r>
              <a:rPr lang="pl-PL" b="1" dirty="0">
                <a:solidFill>
                  <a:srgbClr val="FF0000"/>
                </a:solidFill>
              </a:rPr>
              <a:t>skompilowany</a:t>
            </a:r>
            <a:r>
              <a:rPr lang="pl-PL" dirty="0"/>
              <a:t> do czystego JS, zanim będzie mógł być uruchomiony przez przeglądarkę lub środowisko Node.js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7089CB-5CE6-6DFB-18A1-6D8048840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621" y="4948874"/>
            <a:ext cx="8782608" cy="744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14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9D285C-01F3-DA0F-D18C-209576FCF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Główne różnice pomiędzy J</a:t>
            </a:r>
            <a:r>
              <a:rPr lang="pl-PL" dirty="0">
                <a:solidFill>
                  <a:srgbClr val="FF0000"/>
                </a:solidFill>
              </a:rPr>
              <a:t>S</a:t>
            </a:r>
            <a:r>
              <a:rPr lang="pl-PL" dirty="0"/>
              <a:t> a T</a:t>
            </a:r>
            <a:r>
              <a:rPr lang="pl-PL" dirty="0">
                <a:solidFill>
                  <a:srgbClr val="FF0000"/>
                </a:solidFill>
              </a:rPr>
              <a:t>S</a:t>
            </a:r>
            <a:endParaRPr lang="en-GB" dirty="0">
              <a:solidFill>
                <a:srgbClr val="FF0000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A76A720-03E4-0291-B7A4-9CF20C12EE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336848"/>
              </p:ext>
            </p:extLst>
          </p:nvPr>
        </p:nvGraphicFramePr>
        <p:xfrm>
          <a:off x="1271516" y="1528549"/>
          <a:ext cx="9930521" cy="4098727"/>
        </p:xfrm>
        <a:graphic>
          <a:graphicData uri="http://schemas.openxmlformats.org/drawingml/2006/table">
            <a:tbl>
              <a:tblPr firstRow="1">
                <a:tableStyleId>{9ACFF40F-6864-4E23-A38A-F3DD8219100D}</a:tableStyleId>
              </a:tblPr>
              <a:tblGrid>
                <a:gridCol w="1720850">
                  <a:extLst>
                    <a:ext uri="{9D8B030D-6E8A-4147-A177-3AD203B41FA5}">
                      <a16:colId xmlns:a16="http://schemas.microsoft.com/office/drawing/2014/main" val="60091860"/>
                    </a:ext>
                  </a:extLst>
                </a:gridCol>
                <a:gridCol w="3797091">
                  <a:extLst>
                    <a:ext uri="{9D8B030D-6E8A-4147-A177-3AD203B41FA5}">
                      <a16:colId xmlns:a16="http://schemas.microsoft.com/office/drawing/2014/main" val="1007263767"/>
                    </a:ext>
                  </a:extLst>
                </a:gridCol>
                <a:gridCol w="4412580">
                  <a:extLst>
                    <a:ext uri="{9D8B030D-6E8A-4147-A177-3AD203B41FA5}">
                      <a16:colId xmlns:a16="http://schemas.microsoft.com/office/drawing/2014/main" val="2492396222"/>
                    </a:ext>
                  </a:extLst>
                </a:gridCol>
              </a:tblGrid>
              <a:tr h="57869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GB" sz="2800" b="1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800" b="1" dirty="0">
                          <a:solidFill>
                            <a:schemeClr val="tx1"/>
                          </a:solidFill>
                          <a:effectLst/>
                        </a:rPr>
                        <a:t>JavaScript (JS)</a:t>
                      </a: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800" b="1" dirty="0">
                          <a:solidFill>
                            <a:schemeClr val="tx1"/>
                          </a:solidFill>
                          <a:effectLst/>
                        </a:rPr>
                        <a:t>TypeScript (TS)</a:t>
                      </a: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7857821"/>
                  </a:ext>
                </a:extLst>
              </a:tr>
              <a:tr h="41052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b="1" dirty="0" err="1">
                          <a:effectLst/>
                        </a:rPr>
                        <a:t>Typowanie</a:t>
                      </a:r>
                      <a:endParaRPr lang="en-GB" sz="2000" b="1" dirty="0">
                        <a:effectLst/>
                      </a:endParaRP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dirty="0" err="1">
                          <a:effectLst/>
                        </a:rPr>
                        <a:t>Dynamiczne</a:t>
                      </a:r>
                      <a:endParaRPr lang="en-GB" sz="2000" dirty="0">
                        <a:effectLst/>
                      </a:endParaRP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dirty="0" err="1">
                          <a:effectLst/>
                        </a:rPr>
                        <a:t>Statyczne</a:t>
                      </a:r>
                      <a:endParaRPr lang="en-GB" sz="2000" dirty="0">
                        <a:effectLst/>
                      </a:endParaRP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2229600192"/>
                  </a:ext>
                </a:extLst>
              </a:tr>
              <a:tr h="7773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b="1">
                          <a:effectLst/>
                        </a:rPr>
                        <a:t>Błędy</a:t>
                      </a: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l-PL" sz="2000" dirty="0">
                          <a:effectLst/>
                        </a:rPr>
                        <a:t>Wychwytywane głównie w czasie działania (runtime)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l-PL" sz="2000">
                          <a:effectLst/>
                        </a:rPr>
                        <a:t>Wychwytywane w czasie kompilacji/pisania kodu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1476809984"/>
                  </a:ext>
                </a:extLst>
              </a:tr>
              <a:tr h="7773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b="1">
                          <a:effectLst/>
                        </a:rPr>
                        <a:t>Kod</a:t>
                      </a: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dirty="0" err="1">
                          <a:effectLst/>
                        </a:rPr>
                        <a:t>Wykonywany</a:t>
                      </a:r>
                      <a:r>
                        <a:rPr lang="en-GB" sz="2000" dirty="0">
                          <a:effectLst/>
                        </a:rPr>
                        <a:t> </a:t>
                      </a:r>
                      <a:r>
                        <a:rPr lang="en-GB" sz="2000" dirty="0" err="1">
                          <a:effectLst/>
                        </a:rPr>
                        <a:t>bezpośrednio</a:t>
                      </a:r>
                      <a:r>
                        <a:rPr lang="en-GB" sz="2000" dirty="0">
                          <a:effectLst/>
                        </a:rPr>
                        <a:t> (</a:t>
                      </a:r>
                      <a:r>
                        <a:rPr lang="en-GB" sz="2000" dirty="0" err="1">
                          <a:effectLst/>
                        </a:rPr>
                        <a:t>interpretowany</a:t>
                      </a:r>
                      <a:r>
                        <a:rPr lang="en-GB" sz="2000" dirty="0">
                          <a:effectLst/>
                        </a:rPr>
                        <a:t>)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l-PL" sz="2000" dirty="0">
                          <a:effectLst/>
                        </a:rPr>
                        <a:t>Wymaga kompilacji do JS przed wykonaniem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3189477647"/>
                  </a:ext>
                </a:extLst>
              </a:tr>
              <a:tr h="7773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b="1">
                          <a:effectLst/>
                        </a:rPr>
                        <a:t>Złożoność Projektu</a:t>
                      </a: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dirty="0">
                          <a:effectLst/>
                        </a:rPr>
                        <a:t>Lepszy dla małych projektów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l-PL" sz="2000" dirty="0">
                          <a:effectLst/>
                        </a:rPr>
                        <a:t>Idealny dla dużych, złożonych projektów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3289781110"/>
                  </a:ext>
                </a:extLst>
              </a:tr>
              <a:tr h="77737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GB" sz="2000" b="1" dirty="0" err="1">
                          <a:effectLst/>
                        </a:rPr>
                        <a:t>Narzędzia</a:t>
                      </a:r>
                      <a:endParaRPr lang="en-GB" sz="2000" b="1" dirty="0">
                        <a:effectLst/>
                      </a:endParaRPr>
                    </a:p>
                  </a:txBody>
                  <a:tcPr marL="19050" marR="19050" marT="12700" marB="1270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l-PL" sz="2000">
                          <a:effectLst/>
                        </a:rPr>
                        <a:t>Mniej zaawansowane autouzupełnianie w edytorach</a:t>
                      </a:r>
                    </a:p>
                  </a:txBody>
                  <a:tcPr marL="19050" marR="19050" marT="12700" marB="1270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l-PL" sz="2000" dirty="0">
                          <a:effectLst/>
                        </a:rPr>
                        <a:t>Doskonałe wsparcie IDE, autouzupełnianie, refaktoryzacja</a:t>
                      </a:r>
                    </a:p>
                  </a:txBody>
                  <a:tcPr marL="19050" marR="19050" marT="12700" marB="12700" anchor="ctr"/>
                </a:tc>
                <a:extLst>
                  <a:ext uri="{0D108BD9-81ED-4DB2-BD59-A6C34878D82A}">
                    <a16:rowId xmlns:a16="http://schemas.microsoft.com/office/drawing/2014/main" val="549349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822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B8E96-79F7-A4D6-2BF9-A9E55C88E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Dlaczego warto uczyć się </a:t>
            </a:r>
            <a:r>
              <a:rPr lang="pl-PL" dirty="0">
                <a:solidFill>
                  <a:srgbClr val="FF0000"/>
                </a:solidFill>
              </a:rPr>
              <a:t>T</a:t>
            </a:r>
            <a:r>
              <a:rPr lang="pl-PL" dirty="0"/>
              <a:t>ype</a:t>
            </a:r>
            <a:r>
              <a:rPr lang="pl-PL" dirty="0">
                <a:solidFill>
                  <a:srgbClr val="FF0000"/>
                </a:solidFill>
              </a:rPr>
              <a:t>S</a:t>
            </a:r>
            <a:r>
              <a:rPr lang="pl-PL" dirty="0"/>
              <a:t>cript w kontekście testów automatycznych?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CA6F5-397A-2C8F-DE1E-6E1C2CF57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514220"/>
            <a:ext cx="11566500" cy="4538100"/>
          </a:xfrm>
        </p:spPr>
        <p:txBody>
          <a:bodyPr>
            <a:normAutofit fontScale="92500" lnSpcReduction="10000"/>
          </a:bodyPr>
          <a:lstStyle/>
          <a:p>
            <a:pPr marL="101600" indent="0">
              <a:buNone/>
            </a:pPr>
            <a:r>
              <a:rPr lang="pl-PL" b="1" dirty="0"/>
              <a:t>Early bug detection </a:t>
            </a:r>
            <a:r>
              <a:rPr lang="pl-PL" dirty="0"/>
              <a:t>- mniej niepowodzeń spowodowanych błędami w kodzie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/>
              <a:t>Lepsza czytelność i utrzymanie </a:t>
            </a:r>
            <a:r>
              <a:rPr lang="pl-PL" dirty="0"/>
              <a:t>– jawne typy działają jak dokumentacja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/>
              <a:t>Wsparcie IDE </a:t>
            </a:r>
            <a:r>
              <a:rPr lang="pl-PL" dirty="0"/>
              <a:t>– statyczne typowanie pozwala edytorom (takim jak VSCode) na dostarczanie inteligentnego autouzupełniania i podpowiedzi o błędach.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/>
              <a:t>Standaryzacja w frameworkach </a:t>
            </a:r>
            <a:r>
              <a:rPr lang="pl-PL" dirty="0"/>
              <a:t>– większość nowoczesnych frameworków do testowania automatycznego (np. Cypress, PlayWright) jest w pełni zoptymalizowanych pod kątem TypeScript</a:t>
            </a:r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2C697-93D9-7A0B-E5AA-0A7AA2B93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7363" y="3002279"/>
            <a:ext cx="7697274" cy="96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53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94E829-DC2A-E620-21D5-D28A6816F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44738"/>
            <a:ext cx="12192000" cy="2099716"/>
          </a:xfrm>
        </p:spPr>
        <p:txBody>
          <a:bodyPr/>
          <a:lstStyle/>
          <a:p>
            <a:r>
              <a:rPr lang="pl-PL" dirty="0"/>
              <a:t>Co jest potrzebne do pracy z TypeScript?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28255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23B429-E610-DBF8-8AB6-C619DD88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Środowisko uruchomieniowe – </a:t>
            </a:r>
            <a:r>
              <a:rPr lang="pl-PL" dirty="0">
                <a:solidFill>
                  <a:srgbClr val="FF0000"/>
                </a:solidFill>
              </a:rPr>
              <a:t>Node.JS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FC1437-80BA-3894-A8F3-C168C9584E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Jest to środowisko uruchomieniowe JavaScript po stronie serwera, które pozwala wykonywać kod JS (i TS) poza przeglądarką. 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Wszystkie nowoczesne frameworki testowe (np. Playwright, Cypress, Jest) działają w oparciu o Node.JS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Instalacja Node.JS automatycznie instaluje menadżera pakietów </a:t>
            </a:r>
            <a:r>
              <a:rPr lang="pl-PL" dirty="0">
                <a:solidFill>
                  <a:srgbClr val="FF0000"/>
                </a:solidFill>
              </a:rPr>
              <a:t>npm (Node Package Manager)</a:t>
            </a:r>
          </a:p>
          <a:p>
            <a:pPr marL="101600" indent="0">
              <a:buNone/>
            </a:pPr>
            <a:endParaRPr lang="pl-PL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tx1"/>
                </a:solidFill>
              </a:rPr>
              <a:t>Link do instalacji oraz instrukcji:</a:t>
            </a:r>
          </a:p>
          <a:p>
            <a:pPr marL="101600" indent="0">
              <a:buNone/>
            </a:pPr>
            <a:r>
              <a:rPr lang="en-GB" u="sng" dirty="0">
                <a:solidFill>
                  <a:srgbClr val="FF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https://nodejs.org/en/download</a:t>
            </a:r>
            <a:endParaRPr lang="en-GB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038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EE62E-867D-7D35-15F5-B7EDFD476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Menadżer pakietów – </a:t>
            </a:r>
            <a:r>
              <a:rPr lang="pl-PL" dirty="0">
                <a:solidFill>
                  <a:srgbClr val="FF0000"/>
                </a:solidFill>
              </a:rPr>
              <a:t>npm</a:t>
            </a:r>
            <a:r>
              <a:rPr lang="pl-PL" dirty="0"/>
              <a:t>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6760E-C8A1-0D22-C8FD-E20BF66B3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608389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Do zarządzania zależnościami (czyli frameworkami testowymi, bibliotekami, kompilatorem TS) używamy menedżera pakietów. Najczęściej jest to </a:t>
            </a:r>
            <a:r>
              <a:rPr lang="pl-PL" b="1" dirty="0">
                <a:solidFill>
                  <a:srgbClr val="FF0000"/>
                </a:solidFill>
              </a:rPr>
              <a:t>npm</a:t>
            </a:r>
            <a:r>
              <a:rPr lang="pl-PL" dirty="0"/>
              <a:t>, który jest domyślnie instalowany z Node.js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Służy do instalowania, aktualizowania i usuwania pakietów (bibliotek) potrzebnych w projekcie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D299AD-8314-F4DB-9FFD-E9A4BD402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559" y="4307097"/>
            <a:ext cx="10133116" cy="956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85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9D2D8-DDF1-26E8-2D6D-24236C9C5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Kompilator TypeScript - </a:t>
            </a:r>
            <a:r>
              <a:rPr lang="pl-PL" dirty="0">
                <a:solidFill>
                  <a:srgbClr val="FF0000"/>
                </a:solidFill>
              </a:rPr>
              <a:t>tsc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8F49FA-661E-71B9-C675-139DFD720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Ponieważ maszyny nie rozumieją kodu TS, potrzebujemy narzędzia, które przetłumaczy go na czysty JavaScript. Służy do tego </a:t>
            </a:r>
            <a:r>
              <a:rPr lang="pl-PL" b="1" dirty="0">
                <a:solidFill>
                  <a:srgbClr val="FF0000"/>
                </a:solidFill>
              </a:rPr>
              <a:t>kompilator TypeScript (tsc)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/>
              <a:t>Czyta pliki z rozszerzeniem </a:t>
            </a:r>
            <a:r>
              <a:rPr lang="pl-PL" dirty="0">
                <a:solidFill>
                  <a:srgbClr val="FF0000"/>
                </a:solidFill>
              </a:rPr>
              <a:t>.ts </a:t>
            </a:r>
            <a:r>
              <a:rPr lang="pl-PL" dirty="0"/>
              <a:t>i generuje odpowiadające im pliki </a:t>
            </a:r>
            <a:r>
              <a:rPr lang="pl-PL" dirty="0">
                <a:solidFill>
                  <a:srgbClr val="FF0000"/>
                </a:solidFill>
              </a:rPr>
              <a:t>.js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Działanie kompilatora jest sterowane przez plik konfiguracyjny o nazwie </a:t>
            </a:r>
            <a:r>
              <a:rPr lang="pl-PL" b="1" dirty="0">
                <a:solidFill>
                  <a:srgbClr val="FF0000"/>
                </a:solidFill>
              </a:rPr>
              <a:t>tsconfig.json</a:t>
            </a:r>
            <a:r>
              <a:rPr lang="pl-PL" dirty="0"/>
              <a:t>. W tym pliku określasz, jaką wersję JavaScriptu ma wygenerować kompilator, gdzie mają być pliki źródłowe, a gdzie wynikowe, i jakie mają być zasady typowania. </a:t>
            </a:r>
          </a:p>
          <a:p>
            <a:pPr marL="101600" indent="0">
              <a:buNone/>
            </a:pPr>
            <a:endParaRPr lang="pl-PL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tx1"/>
                </a:solidFill>
              </a:rPr>
              <a:t>Instalacja jako pakiet npm:</a:t>
            </a:r>
            <a:br>
              <a:rPr lang="pl-PL" dirty="0">
                <a:solidFill>
                  <a:schemeClr val="tx1"/>
                </a:solidFill>
              </a:rPr>
            </a:br>
            <a:endParaRPr lang="en-GB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ECCEF3-863D-7F5C-03CF-E1DA87FD0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483" y="5009970"/>
            <a:ext cx="6142115" cy="405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4649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8B687-C31D-E6CC-C23E-A37BEA184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Edytor kodu (</a:t>
            </a:r>
            <a:r>
              <a:rPr lang="pl-PL" dirty="0">
                <a:solidFill>
                  <a:srgbClr val="FF0000"/>
                </a:solidFill>
              </a:rPr>
              <a:t>IDE</a:t>
            </a:r>
            <a:r>
              <a:rPr lang="pl-PL" dirty="0"/>
              <a:t>)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DD9F0-D9BD-A0A0-9BAE-530A66886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849272"/>
            <a:ext cx="11566500" cy="3928728"/>
          </a:xfrm>
        </p:spPr>
        <p:txBody>
          <a:bodyPr>
            <a:normAutofit fontScale="92500" lnSpcReduction="10000"/>
          </a:bodyPr>
          <a:lstStyle/>
          <a:p>
            <a:pPr marL="101600" indent="0">
              <a:buNone/>
            </a:pPr>
            <a:r>
              <a:rPr lang="pl-PL" dirty="0"/>
              <a:t>Rekomendacja – </a:t>
            </a:r>
            <a:r>
              <a:rPr lang="pl-PL" b="1" dirty="0">
                <a:solidFill>
                  <a:srgbClr val="FF0000"/>
                </a:solidFill>
              </a:rPr>
              <a:t>Visual Studio Code</a:t>
            </a:r>
            <a:r>
              <a:rPr lang="pl-PL" dirty="0"/>
              <a:t>. 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>
                <a:solidFill>
                  <a:srgbClr val="FF0000"/>
                </a:solidFill>
              </a:rPr>
              <a:t>VS Code </a:t>
            </a:r>
            <a:r>
              <a:rPr lang="pl-PL" dirty="0"/>
              <a:t>został stworzony przez Microsoft (tego samego twórcę co TS) i oferuje natywne, najlepsze w swojej klasie wsparcie dla TypeScript: </a:t>
            </a:r>
          </a:p>
          <a:p>
            <a:pPr marL="101600" indent="0">
              <a:buNone/>
            </a:pPr>
            <a:r>
              <a:rPr lang="pl-PL" dirty="0"/>
              <a:t>	- </a:t>
            </a:r>
            <a:r>
              <a:rPr lang="pl-PL" b="1" dirty="0">
                <a:solidFill>
                  <a:srgbClr val="FF0000"/>
                </a:solidFill>
              </a:rPr>
              <a:t>IntelliSense </a:t>
            </a:r>
            <a:r>
              <a:rPr lang="pl-PL" b="1" dirty="0">
                <a:solidFill>
                  <a:schemeClr val="bg2"/>
                </a:solidFill>
              </a:rPr>
              <a:t>– </a:t>
            </a:r>
            <a:r>
              <a:rPr lang="pl-PL" dirty="0">
                <a:solidFill>
                  <a:schemeClr val="bg2"/>
                </a:solidFill>
              </a:rPr>
              <a:t>inteligentne podpowiedzi, autouzupełnianie i natychmiastowe 		   wskazywanie błędów typowania</a:t>
            </a:r>
          </a:p>
          <a:p>
            <a:pPr marL="101600" indent="0">
              <a:buNone/>
            </a:pPr>
            <a:r>
              <a:rPr lang="pl-PL" dirty="0">
                <a:solidFill>
                  <a:schemeClr val="bg2"/>
                </a:solidFill>
              </a:rPr>
              <a:t>	- </a:t>
            </a:r>
            <a:r>
              <a:rPr lang="pl-PL" b="1" dirty="0">
                <a:solidFill>
                  <a:srgbClr val="FF0000"/>
                </a:solidFill>
              </a:rPr>
              <a:t>Refaktoryzacja </a:t>
            </a:r>
            <a:r>
              <a:rPr lang="pl-PL" b="1" dirty="0">
                <a:solidFill>
                  <a:schemeClr val="bg2"/>
                </a:solidFill>
              </a:rPr>
              <a:t>-</a:t>
            </a:r>
            <a:r>
              <a:rPr lang="pl-PL" b="1" dirty="0">
                <a:solidFill>
                  <a:srgbClr val="FF0000"/>
                </a:solidFill>
              </a:rPr>
              <a:t> </a:t>
            </a:r>
            <a:r>
              <a:rPr lang="pl-PL" dirty="0">
                <a:solidFill>
                  <a:schemeClr val="bg2"/>
                </a:solidFill>
              </a:rPr>
              <a:t>łatwe i bezpieczne </a:t>
            </a:r>
            <a:r>
              <a:rPr lang="pl-PL" dirty="0"/>
              <a:t>zmiany nazw, które są aktualizowane w całym 	   	   projekcie dzięki informacjom o typach.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Link do instalacji:</a:t>
            </a:r>
          </a:p>
          <a:p>
            <a:pPr marL="101600" indent="0">
              <a:buNone/>
            </a:pPr>
            <a:r>
              <a:rPr lang="pl-PL" dirty="0">
                <a:hlinkClick r:id="rId2"/>
              </a:rPr>
              <a:t>https://code.visualstudio.com/Download</a:t>
            </a:r>
            <a:br>
              <a:rPr lang="pl-PL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3704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FD8F9-DB24-D59D-CB63-261EFEDC2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072786"/>
            <a:ext cx="12192000" cy="828600"/>
          </a:xfrm>
        </p:spPr>
        <p:txBody>
          <a:bodyPr/>
          <a:lstStyle/>
          <a:p>
            <a:r>
              <a:rPr lang="pl-PL" dirty="0"/>
              <a:t>Zmienne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7581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CE0F0C7-03B2-3F47-060C-BE85D81F5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Syntax tworzenia zmiennych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3D4B04-9E26-BF95-18F2-06E1200BA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500" y="1239900"/>
            <a:ext cx="11566500" cy="4538100"/>
          </a:xfrm>
        </p:spPr>
        <p:txBody>
          <a:bodyPr/>
          <a:lstStyle/>
          <a:p>
            <a:pPr marL="101600" indent="0">
              <a:buNone/>
            </a:pPr>
            <a:endParaRPr lang="pl-PL" dirty="0">
              <a:solidFill>
                <a:schemeClr val="accent2"/>
              </a:solidFill>
            </a:endParaRPr>
          </a:p>
          <a:p>
            <a:pPr marL="101600" indent="0">
              <a:buNone/>
            </a:pPr>
            <a:endParaRPr lang="pl-PL" b="1" dirty="0">
              <a:solidFill>
                <a:schemeClr val="bg2"/>
              </a:solidFill>
            </a:endParaRPr>
          </a:p>
          <a:p>
            <a:pPr marL="101600" indent="0">
              <a:buNone/>
            </a:pPr>
            <a:endParaRPr lang="pl-PL" b="1" dirty="0">
              <a:solidFill>
                <a:schemeClr val="bg2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chemeClr val="bg2"/>
                </a:solidFill>
              </a:rPr>
              <a:t>Typowanie jawne:</a:t>
            </a:r>
          </a:p>
          <a:p>
            <a:pPr marL="101600" indent="0">
              <a:buNone/>
            </a:pPr>
            <a:r>
              <a:rPr lang="pl-PL" dirty="0">
                <a:solidFill>
                  <a:schemeClr val="accent2"/>
                </a:solidFill>
              </a:rPr>
              <a:t>&lt;słowo kluczowe&gt; </a:t>
            </a:r>
            <a:r>
              <a:rPr lang="pl-PL" dirty="0">
                <a:solidFill>
                  <a:schemeClr val="accent1"/>
                </a:solidFill>
              </a:rPr>
              <a:t>&lt;nazwa zmiennej&gt; </a:t>
            </a:r>
            <a:r>
              <a:rPr lang="pl-PL" b="1" dirty="0"/>
              <a:t>: </a:t>
            </a:r>
            <a:r>
              <a:rPr lang="pl-PL" dirty="0">
                <a:solidFill>
                  <a:schemeClr val="accent3">
                    <a:lumMod val="50000"/>
                  </a:schemeClr>
                </a:solidFill>
              </a:rPr>
              <a:t>&lt;typ zmiennej&gt; </a:t>
            </a:r>
            <a:r>
              <a:rPr lang="pl-PL" b="1" dirty="0"/>
              <a:t>=</a:t>
            </a:r>
            <a:r>
              <a:rPr lang="pl-PL" dirty="0"/>
              <a:t> </a:t>
            </a:r>
            <a:r>
              <a:rPr lang="pl-PL" dirty="0">
                <a:solidFill>
                  <a:schemeClr val="accent5">
                    <a:lumMod val="50000"/>
                  </a:schemeClr>
                </a:solidFill>
              </a:rPr>
              <a:t>&lt;wartość&gt;</a:t>
            </a:r>
          </a:p>
          <a:p>
            <a:pPr marL="101600" indent="0">
              <a:buNone/>
            </a:pPr>
            <a:endParaRPr lang="pl-PL" dirty="0">
              <a:solidFill>
                <a:schemeClr val="accent5">
                  <a:lumMod val="50000"/>
                </a:schemeClr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chemeClr val="bg2"/>
                </a:solidFill>
              </a:rPr>
              <a:t>Wnioskowanie o typach:</a:t>
            </a:r>
          </a:p>
          <a:p>
            <a:pPr marL="101600" indent="0">
              <a:buNone/>
            </a:pPr>
            <a:r>
              <a:rPr lang="pl-PL" dirty="0">
                <a:solidFill>
                  <a:schemeClr val="accent2"/>
                </a:solidFill>
              </a:rPr>
              <a:t>&lt;słowo kluczowe&gt; </a:t>
            </a:r>
            <a:r>
              <a:rPr lang="pl-PL" dirty="0">
                <a:solidFill>
                  <a:schemeClr val="accent1"/>
                </a:solidFill>
              </a:rPr>
              <a:t>&lt;nazwa zmiennej&gt; </a:t>
            </a:r>
            <a:r>
              <a:rPr lang="pl-PL" dirty="0">
                <a:solidFill>
                  <a:schemeClr val="bg2"/>
                </a:solidFill>
              </a:rPr>
              <a:t>=</a:t>
            </a:r>
            <a:r>
              <a:rPr lang="pl-PL" dirty="0">
                <a:solidFill>
                  <a:schemeClr val="accent1"/>
                </a:solidFill>
              </a:rPr>
              <a:t> </a:t>
            </a:r>
            <a:r>
              <a:rPr lang="pl-PL" dirty="0">
                <a:solidFill>
                  <a:schemeClr val="accent5">
                    <a:lumMod val="50000"/>
                  </a:schemeClr>
                </a:solidFill>
              </a:rPr>
              <a:t>&lt;wartość&gt;</a:t>
            </a:r>
          </a:p>
          <a:p>
            <a:pPr marL="101600" indent="0">
              <a:buNone/>
            </a:pPr>
            <a:endParaRPr lang="en-GB" b="1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245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8B7F92-947E-3506-7A36-FB9BDBCF7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Zmienne – let, const i </a:t>
            </a:r>
            <a:r>
              <a:rPr lang="pl-PL" dirty="0">
                <a:solidFill>
                  <a:srgbClr val="FF0000"/>
                </a:solidFill>
              </a:rPr>
              <a:t>var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90CA9-E710-F78E-023B-7579B35269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Zmienne to nazwane miejsca w pamięci, które przechowują wartości. W TypeScript (i nowoczesnym JS) do deklarowania zmiennych używamy trzech słów kluczowych.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69FF926-4D8A-F9AB-38AC-587E41D7D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1764316"/>
              </p:ext>
            </p:extLst>
          </p:nvPr>
        </p:nvGraphicFramePr>
        <p:xfrm>
          <a:off x="1090682" y="2187580"/>
          <a:ext cx="10010636" cy="3866175"/>
        </p:xfrm>
        <a:graphic>
          <a:graphicData uri="http://schemas.openxmlformats.org/drawingml/2006/table">
            <a:tbl>
              <a:tblPr/>
              <a:tblGrid>
                <a:gridCol w="1910688">
                  <a:extLst>
                    <a:ext uri="{9D8B030D-6E8A-4147-A177-3AD203B41FA5}">
                      <a16:colId xmlns:a16="http://schemas.microsoft.com/office/drawing/2014/main" val="344881572"/>
                    </a:ext>
                  </a:extLst>
                </a:gridCol>
                <a:gridCol w="2067636">
                  <a:extLst>
                    <a:ext uri="{9D8B030D-6E8A-4147-A177-3AD203B41FA5}">
                      <a16:colId xmlns:a16="http://schemas.microsoft.com/office/drawing/2014/main" val="658352492"/>
                    </a:ext>
                  </a:extLst>
                </a:gridCol>
                <a:gridCol w="2089245">
                  <a:extLst>
                    <a:ext uri="{9D8B030D-6E8A-4147-A177-3AD203B41FA5}">
                      <a16:colId xmlns:a16="http://schemas.microsoft.com/office/drawing/2014/main" val="1477208633"/>
                    </a:ext>
                  </a:extLst>
                </a:gridCol>
                <a:gridCol w="3943067">
                  <a:extLst>
                    <a:ext uri="{9D8B030D-6E8A-4147-A177-3AD203B41FA5}">
                      <a16:colId xmlns:a16="http://schemas.microsoft.com/office/drawing/2014/main" val="4010276040"/>
                    </a:ext>
                  </a:extLst>
                </a:gridCol>
              </a:tblGrid>
              <a:tr h="484496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Słowo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Kluczowe</a:t>
                      </a:r>
                      <a:endParaRPr lang="en-GB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7" marR="9147" marT="6098" marB="609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Zakres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(Scope)</a:t>
                      </a: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Możliwość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Zmiany</a:t>
                      </a:r>
                      <a:endParaRPr lang="en-GB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Kiedy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pl-PL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u</a:t>
                      </a: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żywać</a:t>
                      </a:r>
                      <a:r>
                        <a:rPr lang="pl-PL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?</a:t>
                      </a:r>
                      <a:endParaRPr lang="en-GB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298922"/>
                  </a:ext>
                </a:extLst>
              </a:tr>
              <a:tr h="982639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const</a:t>
                      </a:r>
                      <a:endParaRPr lang="en-GB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7" marR="9147" marT="6098" marB="609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Blokowy</a:t>
                      </a:r>
                      <a:endParaRPr lang="en-GB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Nie (</a:t>
                      </a: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stała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l-PL" sz="1600" b="1" i="0" u="none" strike="noStrike" cap="none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ZAWSZE, gdy wartość nie ma się zmienić (najbezpieczniejsze).</a:t>
                      </a:r>
                    </a:p>
                  </a:txBody>
                  <a:tcPr marL="0" marR="0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C6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8625939"/>
                  </a:ext>
                </a:extLst>
              </a:tr>
              <a:tr h="1238089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let</a:t>
                      </a:r>
                    </a:p>
                  </a:txBody>
                  <a:tcPr marL="9147" marR="9147" marT="6098" marB="609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Blokowy</a:t>
                      </a:r>
                      <a:endParaRPr lang="en-GB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Tak (</a:t>
                      </a: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zmienna</a:t>
                      </a: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l-PL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Kiedy wartość musi zostać zmieniona w dalszej części kodu (np. liczniki w pętlach).</a:t>
                      </a:r>
                    </a:p>
                  </a:txBody>
                  <a:tcPr marL="0" marR="0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D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414802"/>
                  </a:ext>
                </a:extLst>
              </a:tr>
              <a:tr h="1160951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var</a:t>
                      </a:r>
                    </a:p>
                  </a:txBody>
                  <a:tcPr marL="9147" marR="9147" marT="6098" marB="6098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Funkcyjny</a:t>
                      </a:r>
                      <a:endParaRPr lang="en-GB" sz="1600" b="1" i="0" u="none" strike="noStrike" cap="none" dirty="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GB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Tak</a:t>
                      </a:r>
                    </a:p>
                  </a:txBody>
                  <a:tcPr marL="9147" marR="9147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pl-PL" sz="1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Raczej unikać w nowym kodzie (starszy standard JS, powoduje problemy z zakresem).</a:t>
                      </a:r>
                    </a:p>
                  </a:txBody>
                  <a:tcPr marL="0" marR="0" marT="6098" marB="6098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0D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0D01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328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2355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E4B05-8D53-28F7-F751-6C06DC7BC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Zasady nazywania zmiennych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67C686-8E96-EA41-04E9-B1E213CD3A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Dobre nazwy zmiennych są kluczowe dla czytelności kodu testowego.</a:t>
            </a:r>
          </a:p>
          <a:p>
            <a:r>
              <a:rPr lang="pl-PL" b="1" dirty="0"/>
              <a:t>Mogą zawierać:</a:t>
            </a:r>
            <a:r>
              <a:rPr lang="pl-PL" dirty="0"/>
              <a:t> litery, cyfry, znaki dolara ($) i podkreślenia (_).</a:t>
            </a:r>
          </a:p>
          <a:p>
            <a:r>
              <a:rPr lang="pl-PL" b="1" dirty="0"/>
              <a:t>Nie mogą </a:t>
            </a:r>
            <a:r>
              <a:rPr lang="pl-PL" dirty="0"/>
              <a:t>zaczynać się od cyfry.</a:t>
            </a:r>
          </a:p>
          <a:p>
            <a:r>
              <a:rPr lang="pl-PL" b="1" dirty="0"/>
              <a:t>Nie mogą być</a:t>
            </a:r>
            <a:r>
              <a:rPr lang="pl-PL" dirty="0"/>
              <a:t> słowami kluczowymi języka (np. if, for, let, const).</a:t>
            </a:r>
          </a:p>
          <a:p>
            <a:r>
              <a:rPr lang="pl-PL" b="1" dirty="0"/>
              <a:t>Konwencja:</a:t>
            </a:r>
            <a:r>
              <a:rPr lang="pl-PL" dirty="0"/>
              <a:t> Zazwyczaj stosujemy </a:t>
            </a:r>
            <a:r>
              <a:rPr lang="pl-PL" b="1" dirty="0"/>
              <a:t>camelCase</a:t>
            </a:r>
            <a:r>
              <a:rPr lang="pl-PL" dirty="0"/>
              <a:t> (np. userLogin, testResult). Dla stałych, które nie zmieniają się w ogóle, często używa się </a:t>
            </a:r>
            <a:r>
              <a:rPr lang="pl-PL" b="1" dirty="0"/>
              <a:t>wielkich liter z podkreśleniami</a:t>
            </a:r>
            <a:r>
              <a:rPr lang="pl-PL" dirty="0"/>
              <a:t> (np. BASE_URL).</a:t>
            </a:r>
          </a:p>
          <a:p>
            <a:r>
              <a:rPr lang="pl-PL" b="1" dirty="0"/>
              <a:t>Długość i Opisowość:</a:t>
            </a:r>
            <a:r>
              <a:rPr lang="pl-PL" dirty="0"/>
              <a:t> Nazwa powinna być na tyle długa, by była </a:t>
            </a:r>
            <a:r>
              <a:rPr lang="pl-PL" b="1" dirty="0"/>
              <a:t>opisowa</a:t>
            </a:r>
            <a:r>
              <a:rPr lang="pl-PL" dirty="0"/>
              <a:t>, ale nie za długa. Np. zamiast </a:t>
            </a:r>
            <a:r>
              <a:rPr lang="pl-PL" b="1" dirty="0"/>
              <a:t>theNumberOfTimesWeAttemptedToLogin</a:t>
            </a:r>
            <a:r>
              <a:rPr lang="pl-PL" dirty="0"/>
              <a:t> użyj </a:t>
            </a:r>
            <a:r>
              <a:rPr lang="pl-PL" b="1" dirty="0"/>
              <a:t>loginAttemptsCount</a:t>
            </a:r>
            <a:r>
              <a:rPr lang="pl-PL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59424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AE87A-AD41-9290-2A53-56AB81B3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Co tutaj jest nie tak?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4096C-59D8-A622-5A3C-9E7B83DE42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Popatrz na poniższy kod. Gdzie widzisz błędy? Gdzie widzisz miejsca które można poprawić?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06FDE3-87D7-24B4-34DF-9348A60E1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842" y="2227173"/>
            <a:ext cx="6154435" cy="401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7004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9A8182-E750-FA1A-8CCA-EEA5271FF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Typy danych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7468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A70F26-CEE9-636A-F158-E73FBA9DE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Typy </a:t>
            </a:r>
            <a:r>
              <a:rPr lang="pl-PL" dirty="0">
                <a:solidFill>
                  <a:srgbClr val="FF0000"/>
                </a:solidFill>
              </a:rPr>
              <a:t>prymitywne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8DE09-8A07-7AF9-9C6F-446B3BCDF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To </a:t>
            </a:r>
            <a:r>
              <a:rPr lang="pl-PL" b="1" dirty="0"/>
              <a:t>najprostsze, niepodzielne wartości</a:t>
            </a:r>
            <a:r>
              <a:rPr lang="pl-PL" dirty="0"/>
              <a:t>. Są </a:t>
            </a:r>
            <a:r>
              <a:rPr lang="pl-PL" i="1" dirty="0"/>
              <a:t>niemutowalne</a:t>
            </a:r>
            <a:r>
              <a:rPr lang="pl-PL" dirty="0"/>
              <a:t> i przechowywane bezpośrednio jako wartość, a nie przez referencję.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Istnieją także typy: </a:t>
            </a:r>
            <a:r>
              <a:rPr lang="pl-PL" b="1" dirty="0"/>
              <a:t>void</a:t>
            </a:r>
            <a:r>
              <a:rPr lang="pl-PL" dirty="0"/>
              <a:t>, </a:t>
            </a:r>
            <a:r>
              <a:rPr lang="pl-PL" b="1" dirty="0"/>
              <a:t>never oraz any.</a:t>
            </a:r>
            <a:endParaRPr lang="pl-P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E5BD6F-94DD-C0C1-6224-E6121093FF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1698059"/>
              </p:ext>
            </p:extLst>
          </p:nvPr>
        </p:nvGraphicFramePr>
        <p:xfrm>
          <a:off x="1902156" y="2377440"/>
          <a:ext cx="8387687" cy="2316480"/>
        </p:xfrm>
        <a:graphic>
          <a:graphicData uri="http://schemas.openxmlformats.org/drawingml/2006/table">
            <a:tbl>
              <a:tblPr/>
              <a:tblGrid>
                <a:gridCol w="1089511">
                  <a:extLst>
                    <a:ext uri="{9D8B030D-6E8A-4147-A177-3AD203B41FA5}">
                      <a16:colId xmlns:a16="http://schemas.microsoft.com/office/drawing/2014/main" val="4062904138"/>
                    </a:ext>
                  </a:extLst>
                </a:gridCol>
                <a:gridCol w="3989731">
                  <a:extLst>
                    <a:ext uri="{9D8B030D-6E8A-4147-A177-3AD203B41FA5}">
                      <a16:colId xmlns:a16="http://schemas.microsoft.com/office/drawing/2014/main" val="3080006587"/>
                    </a:ext>
                  </a:extLst>
                </a:gridCol>
                <a:gridCol w="3308445">
                  <a:extLst>
                    <a:ext uri="{9D8B030D-6E8A-4147-A177-3AD203B41FA5}">
                      <a16:colId xmlns:a16="http://schemas.microsoft.com/office/drawing/2014/main" val="25949448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Typ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Opis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Przykład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514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string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Tekst (ciąg znaków).</a:t>
                      </a: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nn-NO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let name: string = "Adam Kowalski";</a:t>
                      </a:r>
                      <a:endParaRPr lang="nn-NO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5213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number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Liczby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całkowite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zmiennoprzecinkowe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let age: number = 30;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760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 err="1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boolean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l-PL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Wartość logiczna: </a:t>
                      </a:r>
                      <a:r>
                        <a:rPr lang="pl-PL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true</a:t>
                      </a:r>
                      <a:r>
                        <a:rPr lang="pl-PL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lub </a:t>
                      </a:r>
                      <a:r>
                        <a:rPr lang="pl-PL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false</a:t>
                      </a:r>
                      <a:r>
                        <a:rPr lang="pl-PL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let isPassed: boolean = true;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9538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null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Celowy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brak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wartości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let result: null = null;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5589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undefined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Zmienna zadeklarowana, ale bez przypisanej wartości.</a:t>
                      </a: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let data: undefined = undefined;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040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3354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A8FF-9082-ABB2-F6AE-CACC1A457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Cechy typów prymitywnych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C46A3D-6C20-41E3-F2F8-FABF10618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Przechowywane są przez wartość (by value) a nie przez referencje</a:t>
            </a:r>
          </a:p>
          <a:p>
            <a:r>
              <a:rPr lang="pl-PL" dirty="0"/>
              <a:t>Każda operacja tworzy nową wartość</a:t>
            </a:r>
          </a:p>
          <a:p>
            <a:r>
              <a:rPr lang="pl-PL" dirty="0"/>
              <a:t>Są niemutowalne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33A31E-61E8-5F88-E9DC-A725E1376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191" y="3053329"/>
            <a:ext cx="8439617" cy="198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191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694DC9-B211-1559-64DC-286E6D0C46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Typy złożone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8392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0DBC65-A45C-9610-C368-6130A85B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Typy </a:t>
            </a:r>
            <a:r>
              <a:rPr lang="pl-PL" dirty="0">
                <a:solidFill>
                  <a:srgbClr val="FF0000"/>
                </a:solidFill>
              </a:rPr>
              <a:t>złożone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C28E37-AB51-3C8B-A233-BCE993F1A1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01600" indent="0">
              <a:buNone/>
            </a:pPr>
            <a:r>
              <a:rPr lang="pl-PL" dirty="0"/>
              <a:t>Typy złożone są niezbędne do modelowania rzeczywistych danych i struktur.</a:t>
            </a:r>
          </a:p>
          <a:p>
            <a:pPr marL="101600" indent="0">
              <a:buNone/>
            </a:pPr>
            <a:r>
              <a:rPr lang="pl-PL" dirty="0"/>
              <a:t>Są przechowywane przez referencje i są mutowalne (można je zmieniać)</a:t>
            </a:r>
          </a:p>
          <a:p>
            <a:pPr marL="101600" indent="0">
              <a:buNone/>
            </a:pPr>
            <a:endParaRPr lang="pl-PL" dirty="0"/>
          </a:p>
          <a:p>
            <a:pPr>
              <a:buFontTx/>
              <a:buChar char="-"/>
            </a:pPr>
            <a:r>
              <a:rPr lang="pl-PL" b="1" dirty="0"/>
              <a:t>Tablice (Array) </a:t>
            </a:r>
          </a:p>
          <a:p>
            <a:pPr marL="101600" indent="0">
              <a:buNone/>
            </a:pPr>
            <a:r>
              <a:rPr lang="pl-PL" dirty="0"/>
              <a:t>Uporządkowana lista elementów tego samego typu. </a:t>
            </a:r>
          </a:p>
          <a:p>
            <a:pPr marL="101600" indent="0">
              <a:buNone/>
            </a:pPr>
            <a:endParaRPr lang="pl-PL" dirty="0"/>
          </a:p>
          <a:p>
            <a:pPr>
              <a:buFontTx/>
              <a:buChar char="-"/>
            </a:pPr>
            <a:r>
              <a:rPr lang="pl-PL" b="1" dirty="0"/>
              <a:t>Krotki (Tuples)</a:t>
            </a:r>
          </a:p>
          <a:p>
            <a:pPr marL="101600" indent="0">
              <a:buNone/>
            </a:pPr>
            <a:r>
              <a:rPr lang="pl-PL" dirty="0"/>
              <a:t>Specjalny typ tablicy, w której </a:t>
            </a:r>
            <a:r>
              <a:rPr lang="pl-PL" b="1" dirty="0"/>
              <a:t>z góry określona jest liczba elementów</a:t>
            </a:r>
            <a:r>
              <a:rPr lang="pl-PL" dirty="0"/>
              <a:t> oraz </a:t>
            </a:r>
            <a:r>
              <a:rPr lang="pl-PL" b="1" dirty="0"/>
              <a:t>typ każdego elementu</a:t>
            </a:r>
            <a:r>
              <a:rPr lang="pl-PL" dirty="0"/>
              <a:t> na konkretnej pozycji.</a:t>
            </a:r>
          </a:p>
          <a:p>
            <a:pPr marL="101600" indent="0">
              <a:buNone/>
            </a:pPr>
            <a:endParaRPr lang="pl-PL" dirty="0"/>
          </a:p>
          <a:p>
            <a:pPr>
              <a:buFontTx/>
              <a:buChar char="-"/>
            </a:pPr>
            <a:r>
              <a:rPr lang="pl-PL" b="1" dirty="0"/>
              <a:t>Obiekty (Objects)</a:t>
            </a:r>
          </a:p>
          <a:p>
            <a:pPr marL="101600" indent="0">
              <a:buNone/>
            </a:pPr>
            <a:r>
              <a:rPr lang="pl-PL" dirty="0"/>
              <a:t>Służy do grupowania danych i funkcji w jedną jednostkę. Obiekty składają się z par </a:t>
            </a:r>
            <a:r>
              <a:rPr lang="pl-PL" b="1" dirty="0"/>
              <a:t>klucz:wartość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8310788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40CBB-E689-1C5F-5E38-905ABDE02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Przykłady typów złożonych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D54E42-C63F-FE58-E335-A683BF02D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996" y="1212491"/>
            <a:ext cx="9142007" cy="5071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464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6B7C09-2880-6C67-454C-D16EBF3B0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48250"/>
            <a:ext cx="12192000" cy="828600"/>
          </a:xfrm>
        </p:spPr>
        <p:txBody>
          <a:bodyPr/>
          <a:lstStyle/>
          <a:p>
            <a:r>
              <a:rPr lang="pl-PL" dirty="0"/>
              <a:t>Operatory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1114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72B2F4-423D-2567-993F-7CA79559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Operatory</a:t>
            </a:r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C4F6267-BBCA-20A2-C575-DCC05C3017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566060"/>
              </p:ext>
            </p:extLst>
          </p:nvPr>
        </p:nvGraphicFramePr>
        <p:xfrm>
          <a:off x="838075" y="2014182"/>
          <a:ext cx="10515600" cy="3048000"/>
        </p:xfrm>
        <a:graphic>
          <a:graphicData uri="http://schemas.openxmlformats.org/drawingml/2006/table">
            <a:tbl>
              <a:tblPr/>
              <a:tblGrid>
                <a:gridCol w="1638869">
                  <a:extLst>
                    <a:ext uri="{9D8B030D-6E8A-4147-A177-3AD203B41FA5}">
                      <a16:colId xmlns:a16="http://schemas.microsoft.com/office/drawing/2014/main" val="2576633170"/>
                    </a:ext>
                  </a:extLst>
                </a:gridCol>
                <a:gridCol w="3618931">
                  <a:extLst>
                    <a:ext uri="{9D8B030D-6E8A-4147-A177-3AD203B41FA5}">
                      <a16:colId xmlns:a16="http://schemas.microsoft.com/office/drawing/2014/main" val="136761463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97409374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798346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Kategoria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Operator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Przykład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Opis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03389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Arytmetyczne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-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*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%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let sum = a + b;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Dodawanie, odejmowanie, mnożenie, dzielenie, reszta z dzielenia.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716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Porównania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==</a:t>
                      </a: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!=</a:t>
                      </a: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&gt;</a:t>
                      </a: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</a:t>
                      </a: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&gt;=</a:t>
                      </a: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&lt;=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if (a &gt; b)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Porównują wartości.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842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Logiczne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&amp;&amp;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(AND)</a:t>
                      </a: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;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|| (OR); ! (NOT)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600" b="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If ((a &gt; b)  &amp;&amp; (b != 0))</a:t>
                      </a:r>
                      <a:endParaRPr lang="en-GB" sz="1600" b="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 łączenia warunków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1365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Przypisania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=</a:t>
                      </a: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+=</a:t>
                      </a:r>
                      <a:r>
                        <a:rPr lang="en-GB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</a:t>
                      </a: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-=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count += 1;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Przypisanie wartości lub wynik operacji.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3953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Równość</a:t>
                      </a:r>
                      <a:endParaRPr lang="en-GB" sz="16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 b="1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===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Ścisła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GB" sz="16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równość</a:t>
                      </a:r>
                      <a:r>
                        <a:rPr lang="en-GB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76200" marR="76200" marT="50800" marB="5080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GB" sz="160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if (a === b)</a:t>
                      </a:r>
                      <a:endParaRPr lang="en-GB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Porównuje </a:t>
                      </a:r>
                      <a:r>
                        <a:rPr lang="pl-PL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wartość i typ</a:t>
                      </a: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</a:t>
                      </a:r>
                      <a:r>
                        <a:rPr lang="pl-PL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Używać </a:t>
                      </a: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zamiast </a:t>
                      </a:r>
                      <a:r>
                        <a:rPr lang="pl-PL" sz="1600" dirty="0">
                          <a:solidFill>
                            <a:srgbClr val="444746"/>
                          </a:solidFill>
                          <a:effectLst/>
                          <a:latin typeface="Google Sans Text"/>
                        </a:rPr>
                        <a:t>==</a:t>
                      </a:r>
                      <a:r>
                        <a:rPr lang="pl-PL" sz="16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0058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172545-5536-00C7-5425-628F7639B0AB}"/>
              </a:ext>
            </a:extLst>
          </p:cNvPr>
          <p:cNvSpPr txBox="1"/>
          <p:nvPr/>
        </p:nvSpPr>
        <p:spPr>
          <a:xfrm>
            <a:off x="614149" y="1221475"/>
            <a:ext cx="11211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2000" dirty="0">
                <a:latin typeface="Poppins Light" panose="00000400000000000000" pitchFamily="2" charset="0"/>
                <a:cs typeface="Poppins Light" panose="00000400000000000000" pitchFamily="2" charset="0"/>
              </a:rPr>
              <a:t>Wykonują działania na wartościach.</a:t>
            </a:r>
            <a:endParaRPr lang="en-GB" sz="2000" dirty="0"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488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00390C-EF2A-0929-D0D2-31C8BADB7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Instrukcje warunkowe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49920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F1B392-7759-AD54-5AEE-D4FD25E58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Instrukcje warunkowe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4B1D14-A323-87FB-E8D3-657BC4A5A4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Instrukcje warunkowe to mechanizmy, które pozwalają programowi podejmować decyzje i wykonywać różne bloki kodu w zależności od tego, czy określony </a:t>
            </a:r>
            <a:r>
              <a:rPr lang="pl-PL" b="1" dirty="0"/>
              <a:t>warunek logiczny</a:t>
            </a:r>
            <a:r>
              <a:rPr lang="pl-PL" dirty="0"/>
              <a:t> jest prawdziwy </a:t>
            </a:r>
            <a:r>
              <a:rPr lang="pl-PL" b="1" dirty="0">
                <a:solidFill>
                  <a:srgbClr val="FF0000"/>
                </a:solidFill>
              </a:rPr>
              <a:t>(true)</a:t>
            </a:r>
            <a:r>
              <a:rPr lang="pl-PL" dirty="0"/>
              <a:t> czy fałszywy </a:t>
            </a:r>
            <a:r>
              <a:rPr lang="pl-PL" b="1" dirty="0">
                <a:solidFill>
                  <a:srgbClr val="FF0000"/>
                </a:solidFill>
              </a:rPr>
              <a:t>(false).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/>
              <a:t>Do tworzenia złożonych warunków używamy operatorów logicznych </a:t>
            </a:r>
            <a:r>
              <a:rPr lang="pl-PL" dirty="0">
                <a:solidFill>
                  <a:srgbClr val="FF0000"/>
                </a:solidFill>
              </a:rPr>
              <a:t>AND, OR, NOT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bg2"/>
                </a:solidFill>
              </a:rPr>
              <a:t>Najbardziej podstawową i najczęściej używaną instrukcją jest instrukcja </a:t>
            </a:r>
            <a:r>
              <a:rPr lang="pl-PL" dirty="0">
                <a:solidFill>
                  <a:srgbClr val="FF0000"/>
                </a:solidFill>
              </a:rPr>
              <a:t>IF</a:t>
            </a: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bg2"/>
                </a:solidFill>
              </a:rPr>
              <a:t>Składnia podstawowa:</a:t>
            </a:r>
            <a:endParaRPr lang="en-GB" dirty="0">
              <a:solidFill>
                <a:schemeClr val="bg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546587-2066-7441-8326-436A825BF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5786" y="4833275"/>
            <a:ext cx="10024511" cy="141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2248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101D0-CCA9-7DD9-E6E6-E4D0B239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Rozszerzona składnia warunku </a:t>
            </a:r>
            <a:r>
              <a:rPr lang="pl-PL" dirty="0">
                <a:solidFill>
                  <a:srgbClr val="FF0000"/>
                </a:solidFill>
              </a:rPr>
              <a:t>IF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0042E-9ECA-474C-8C82-01E88A3F33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Rozszerzona składnia warunku to </a:t>
            </a:r>
            <a:r>
              <a:rPr lang="pl-PL" dirty="0">
                <a:solidFill>
                  <a:srgbClr val="FF0000"/>
                </a:solidFill>
              </a:rPr>
              <a:t>if...else. </a:t>
            </a:r>
            <a:r>
              <a:rPr lang="pl-PL" dirty="0">
                <a:solidFill>
                  <a:schemeClr val="bg2"/>
                </a:solidFill>
              </a:rPr>
              <a:t>Jeśli warunek jest fałszywy to wykonywany jest blok else.</a:t>
            </a: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endParaRPr lang="pl-PL" dirty="0">
              <a:solidFill>
                <a:schemeClr val="bg2"/>
              </a:solidFill>
            </a:endParaRPr>
          </a:p>
          <a:p>
            <a:pPr marL="101600" indent="0">
              <a:buNone/>
            </a:pPr>
            <a:r>
              <a:rPr lang="pl-PL" dirty="0">
                <a:solidFill>
                  <a:schemeClr val="bg2"/>
                </a:solidFill>
              </a:rPr>
              <a:t>Sprawdzanie wielokrotnych warunków jest możliwe dzięki zastosowaniu </a:t>
            </a:r>
            <a:r>
              <a:rPr lang="pl-PL" dirty="0">
                <a:solidFill>
                  <a:srgbClr val="FF0000"/>
                </a:solidFill>
              </a:rPr>
              <a:t>if...else if</a:t>
            </a:r>
          </a:p>
          <a:p>
            <a:pPr marL="101600" indent="0">
              <a:buNone/>
            </a:pPr>
            <a:endParaRPr lang="pl-PL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endParaRPr lang="pl-PL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endParaRPr lang="en-GB" dirty="0">
              <a:solidFill>
                <a:schemeClr val="bg2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1D305A-80D8-21E7-262C-A6D4388F1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781" y="2086791"/>
            <a:ext cx="6768460" cy="14974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C8E331-4B0D-8E94-4930-3CCF72061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781" y="4168198"/>
            <a:ext cx="7702946" cy="19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07983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3955-E57F-55C7-36EE-EA8B71F99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Instrukcja </a:t>
            </a:r>
            <a:r>
              <a:rPr lang="pl-PL" dirty="0">
                <a:solidFill>
                  <a:srgbClr val="FF0000"/>
                </a:solidFill>
              </a:rPr>
              <a:t>try...catch...finally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0C7DB-2510-3DDC-8CF4-6A21390C61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Instrukcja </a:t>
            </a:r>
            <a:r>
              <a:rPr lang="pl-PL" b="1" dirty="0">
                <a:solidFill>
                  <a:srgbClr val="FF0000"/>
                </a:solidFill>
              </a:rPr>
              <a:t>try...catch </a:t>
            </a:r>
            <a:r>
              <a:rPr lang="pl-PL" dirty="0"/>
              <a:t>jest kluczowym elementem w zarządzaniu błędami (error handling) w JavaScript i TypeScript. Pozwala na </a:t>
            </a:r>
            <a:r>
              <a:rPr lang="pl-PL" b="1" dirty="0">
                <a:solidFill>
                  <a:srgbClr val="FF0000"/>
                </a:solidFill>
              </a:rPr>
              <a:t>bezpieczne wykonanie kodu</a:t>
            </a:r>
            <a:r>
              <a:rPr lang="pl-PL" dirty="0"/>
              <a:t>, który może potencjalnie zakończyć się niepowodzeniem, a następnie eleganckie </a:t>
            </a:r>
            <a:r>
              <a:rPr lang="pl-PL" b="1" dirty="0">
                <a:solidFill>
                  <a:srgbClr val="FF0000"/>
                </a:solidFill>
              </a:rPr>
              <a:t>obsłużenie tego błędu</a:t>
            </a:r>
            <a:r>
              <a:rPr lang="pl-PL" dirty="0">
                <a:solidFill>
                  <a:srgbClr val="FF0000"/>
                </a:solidFill>
              </a:rPr>
              <a:t>, </a:t>
            </a:r>
            <a:r>
              <a:rPr lang="pl-PL" dirty="0"/>
              <a:t>zamiast pozwolić, aby program awaryjnie się zatrzymał.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1DFD03-4D6E-5278-5429-02E119EAE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80" y="2798209"/>
            <a:ext cx="7606439" cy="3676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1348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04D4B46-6851-7644-81F6-AB0E960ACF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/>
              <a:t>Pętle i iteracje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65442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B9EAFB-DCCA-5D83-ACDC-BBC2B80E6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Pętla </a:t>
            </a:r>
            <a:r>
              <a:rPr lang="pl-PL" dirty="0">
                <a:solidFill>
                  <a:srgbClr val="FF0000"/>
                </a:solidFill>
              </a:rPr>
              <a:t>for</a:t>
            </a:r>
            <a:r>
              <a:rPr lang="pl-PL" dirty="0"/>
              <a:t> </a:t>
            </a:r>
            <a:endParaRPr lang="en-GB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D6B5E6-DE5F-29F9-1524-799EE33159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Najczęściej używana pętla. Używana, gdy znamy (lub możemy obliczyć) dokładną liczbę powtórzeń.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>
                <a:solidFill>
                  <a:schemeClr val="bg2"/>
                </a:solidFill>
              </a:rPr>
              <a:t>Składnia:</a:t>
            </a:r>
            <a:r>
              <a:rPr lang="pl-PL" dirty="0">
                <a:solidFill>
                  <a:schemeClr val="bg2"/>
                </a:solidFill>
              </a:rPr>
              <a:t> </a:t>
            </a:r>
            <a:r>
              <a:rPr lang="pl-PL" dirty="0">
                <a:solidFill>
                  <a:srgbClr val="FF0000"/>
                </a:solidFill>
              </a:rPr>
              <a:t>	</a:t>
            </a:r>
            <a:r>
              <a:rPr lang="pl-PL" b="1" dirty="0">
                <a:solidFill>
                  <a:schemeClr val="accent1"/>
                </a:solidFill>
              </a:rPr>
              <a:t>for</a:t>
            </a:r>
            <a:r>
              <a:rPr lang="pl-PL" dirty="0"/>
              <a:t> (</a:t>
            </a:r>
            <a:r>
              <a:rPr lang="pl-PL" dirty="0">
                <a:solidFill>
                  <a:schemeClr val="accent2"/>
                </a:solidFill>
              </a:rPr>
              <a:t>inicjalizacja</a:t>
            </a:r>
            <a:r>
              <a:rPr lang="pl-PL" dirty="0"/>
              <a:t>; </a:t>
            </a:r>
            <a:r>
              <a:rPr lang="pl-PL" dirty="0">
                <a:solidFill>
                  <a:schemeClr val="accent6">
                    <a:lumMod val="50000"/>
                  </a:schemeClr>
                </a:solidFill>
              </a:rPr>
              <a:t>warunek</a:t>
            </a:r>
            <a:r>
              <a:rPr lang="pl-PL" dirty="0"/>
              <a:t>; </a:t>
            </a:r>
            <a:r>
              <a:rPr lang="pl-PL" dirty="0">
                <a:solidFill>
                  <a:srgbClr val="7030A0"/>
                </a:solidFill>
              </a:rPr>
              <a:t>inkrementacja</a:t>
            </a:r>
            <a:r>
              <a:rPr lang="pl-PL" dirty="0"/>
              <a:t>)</a:t>
            </a: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43E7E9-83E7-38B4-5A17-C341E563B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530" y="3546541"/>
            <a:ext cx="8494939" cy="1728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9025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490C57-802D-23FD-7002-2D3C67A19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Pętla </a:t>
            </a:r>
            <a:r>
              <a:rPr lang="pl-PL" dirty="0">
                <a:solidFill>
                  <a:srgbClr val="FF0000"/>
                </a:solidFill>
              </a:rPr>
              <a:t>while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03FC5-BEB5-0BB0-CC68-5F53F77D1A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Pętla wykonuje się tak długo, jak długo podany warunek jest </a:t>
            </a:r>
            <a:r>
              <a:rPr lang="pl-PL" b="1" dirty="0"/>
              <a:t>prawdziwy</a:t>
            </a:r>
            <a:r>
              <a:rPr lang="pl-PL" dirty="0"/>
              <a:t> (true). Użyteczna, gdy nie wiemy z góry, ile razy pętla się wykona (np. czekanie na stan elementu).</a:t>
            </a:r>
          </a:p>
          <a:p>
            <a:pPr marL="101600" indent="0">
              <a:buNone/>
            </a:pPr>
            <a:endParaRPr lang="pl-PL" b="1" dirty="0"/>
          </a:p>
          <a:p>
            <a:pPr marL="101600" indent="0">
              <a:buNone/>
            </a:pPr>
            <a:r>
              <a:rPr lang="pl-PL" b="1" dirty="0">
                <a:solidFill>
                  <a:schemeClr val="bg2"/>
                </a:solidFill>
              </a:rPr>
              <a:t>Składnia:</a:t>
            </a:r>
            <a:r>
              <a:rPr lang="pl-PL" dirty="0">
                <a:solidFill>
                  <a:schemeClr val="bg2"/>
                </a:solidFill>
              </a:rPr>
              <a:t> </a:t>
            </a:r>
            <a:r>
              <a:rPr lang="pl-PL" dirty="0">
                <a:solidFill>
                  <a:srgbClr val="FF0000"/>
                </a:solidFill>
              </a:rPr>
              <a:t>	</a:t>
            </a:r>
            <a:r>
              <a:rPr lang="pl-PL" dirty="0">
                <a:solidFill>
                  <a:schemeClr val="accent1"/>
                </a:solidFill>
              </a:rPr>
              <a:t>while</a:t>
            </a:r>
            <a:r>
              <a:rPr lang="pl-PL" dirty="0"/>
              <a:t> (</a:t>
            </a:r>
            <a:r>
              <a:rPr lang="pl-PL" dirty="0">
                <a:solidFill>
                  <a:schemeClr val="accent2"/>
                </a:solidFill>
              </a:rPr>
              <a:t>warunek</a:t>
            </a:r>
            <a:r>
              <a:rPr lang="pl-PL" dirty="0"/>
              <a:t>)</a:t>
            </a:r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F1DDAC-BA74-CBC9-719F-9A861E677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737" y="3121460"/>
            <a:ext cx="7606526" cy="268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5761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2C9DC-8506-641F-0813-8C3184FFD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Pętla </a:t>
            </a:r>
            <a:r>
              <a:rPr lang="pl-PL" dirty="0">
                <a:solidFill>
                  <a:schemeClr val="accent1"/>
                </a:solidFill>
              </a:rPr>
              <a:t>do...while</a:t>
            </a:r>
            <a:endParaRPr lang="en-GB" dirty="0">
              <a:solidFill>
                <a:schemeClr val="accent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44532-8197-A8F5-5871-320456C0BD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Podobna do while, ale warunek jest sprawdzany </a:t>
            </a:r>
            <a:r>
              <a:rPr lang="pl-PL" b="1" dirty="0"/>
              <a:t>po</a:t>
            </a:r>
            <a:r>
              <a:rPr lang="pl-PL" dirty="0"/>
              <a:t> wykonaniu bloku kodu. Oznacza to, że blok kodu zostanie wykonany </a:t>
            </a:r>
            <a:r>
              <a:rPr lang="pl-PL" b="1" dirty="0"/>
              <a:t>przynajmniej raz</a:t>
            </a:r>
            <a:r>
              <a:rPr lang="pl-PL" dirty="0"/>
              <a:t>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b="1" dirty="0">
                <a:solidFill>
                  <a:schemeClr val="bg2"/>
                </a:solidFill>
              </a:rPr>
              <a:t>Składnia:</a:t>
            </a:r>
            <a:r>
              <a:rPr lang="pl-PL" dirty="0">
                <a:solidFill>
                  <a:schemeClr val="bg2"/>
                </a:solidFill>
              </a:rPr>
              <a:t> </a:t>
            </a:r>
            <a:r>
              <a:rPr lang="pl-PL" dirty="0">
                <a:solidFill>
                  <a:srgbClr val="FF0000"/>
                </a:solidFill>
              </a:rPr>
              <a:t>	do </a:t>
            </a:r>
            <a:r>
              <a:rPr lang="pl-PL" dirty="0">
                <a:solidFill>
                  <a:schemeClr val="bg2"/>
                </a:solidFill>
              </a:rPr>
              <a:t>{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>
                <a:solidFill>
                  <a:schemeClr val="accent2"/>
                </a:solidFill>
              </a:rPr>
              <a:t>akcja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>
                <a:solidFill>
                  <a:schemeClr val="bg2"/>
                </a:solidFill>
              </a:rPr>
              <a:t>}</a:t>
            </a:r>
            <a:r>
              <a:rPr lang="pl-PL" dirty="0">
                <a:solidFill>
                  <a:srgbClr val="FF0000"/>
                </a:solidFill>
              </a:rPr>
              <a:t> while</a:t>
            </a:r>
            <a:r>
              <a:rPr lang="pl-PL" dirty="0"/>
              <a:t> ( </a:t>
            </a:r>
            <a:r>
              <a:rPr lang="pl-PL" dirty="0">
                <a:solidFill>
                  <a:schemeClr val="accent6">
                    <a:lumMod val="50000"/>
                  </a:schemeClr>
                </a:solidFill>
              </a:rPr>
              <a:t>warunek</a:t>
            </a:r>
            <a:r>
              <a:rPr lang="pl-PL" dirty="0"/>
              <a:t> )</a:t>
            </a:r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6A3B2E-AA38-4D51-B01D-8100F3671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8778" y="3345177"/>
            <a:ext cx="6626294" cy="205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48940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8780-B7B4-BD0F-2212-D13A0F38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Iteracja po kolekcjach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FD8D4-BA2E-F56F-DBC2-06AFF7C51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Najczystszy sposób na iterację po elementach </a:t>
            </a:r>
            <a:r>
              <a:rPr lang="pl-PL" b="1" dirty="0"/>
              <a:t>tablic</a:t>
            </a:r>
            <a:r>
              <a:rPr lang="pl-PL" dirty="0"/>
              <a:t> lub innych obiektach iterowalnych. Zdecydowanie zalecany w testach przy przetwarzaniu list danych.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0040A-82EC-C171-B1F6-8FF929568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552" y="2739989"/>
            <a:ext cx="8320895" cy="1818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5200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20E7B2E-F599-E8FB-6EF6-55DC65407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51450"/>
            <a:ext cx="12192000" cy="828600"/>
          </a:xfrm>
        </p:spPr>
        <p:txBody>
          <a:bodyPr/>
          <a:lstStyle/>
          <a:p>
            <a:r>
              <a:rPr lang="pl-PL" dirty="0"/>
              <a:t>Funkcje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992115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C7A9DC3-AD26-977E-D371-2B39028A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Funkcje </a:t>
            </a:r>
            <a:r>
              <a:rPr lang="pl-PL" dirty="0">
                <a:solidFill>
                  <a:srgbClr val="FF0000"/>
                </a:solidFill>
              </a:rPr>
              <a:t>klasyczne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06FF26-A7A6-4C7E-5892-863990600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Funkcja to podstawowy blok konstrukcyjny pozwalający na wielokrotne wykorzystanie kodu. W TypeScript deklaracja funkcji jasno określa </a:t>
            </a:r>
            <a:r>
              <a:rPr lang="pl-PL" b="1" dirty="0">
                <a:solidFill>
                  <a:srgbClr val="FF0000"/>
                </a:solidFill>
              </a:rPr>
              <a:t>typ parametrów wejściowych</a:t>
            </a:r>
            <a:r>
              <a:rPr lang="pl-PL" dirty="0"/>
              <a:t> i </a:t>
            </a:r>
            <a:r>
              <a:rPr lang="pl-PL" b="1" dirty="0">
                <a:solidFill>
                  <a:srgbClr val="FF0000"/>
                </a:solidFill>
              </a:rPr>
              <a:t>typ wartości zwracanej</a:t>
            </a:r>
            <a:r>
              <a:rPr lang="pl-PL" dirty="0"/>
              <a:t>, co jest fundamentalne dla bezpieczeństwa kodu.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96F184-03E0-BCDD-6C5B-C23BBA90D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8" y="2622504"/>
            <a:ext cx="7455583" cy="3721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1459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8DAD9-8276-7B4F-67E2-ED40BBB41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Funkcje </a:t>
            </a:r>
            <a:r>
              <a:rPr lang="pl-PL" dirty="0">
                <a:solidFill>
                  <a:srgbClr val="FF0000"/>
                </a:solidFill>
              </a:rPr>
              <a:t>strzałkowe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9BF047-6CBE-188C-5458-6CEB8FC835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Funkcje strzałkowe (=&gt;) zostały wprowadzone w ES6 i są obecnie </a:t>
            </a:r>
            <a:r>
              <a:rPr lang="pl-PL" b="1" dirty="0">
                <a:solidFill>
                  <a:srgbClr val="FF0000"/>
                </a:solidFill>
              </a:rPr>
              <a:t>preferowanym</a:t>
            </a:r>
            <a:r>
              <a:rPr lang="pl-PL" dirty="0"/>
              <a:t> sposobem definiowania funkcji w Typescript, zwłaszcza jako argumenty innych funkcji lub metody w klasach.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Jeśli funkcja ma tylko jedną instrukcję, która jest instrukcją return, można pominąć nawiasy klamrowe {} i słowo kluczowe return.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3969E7-DC32-B0FE-33C9-A5524002F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4211" y="2400286"/>
            <a:ext cx="8415428" cy="13779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395D3B-67D7-777B-5E44-A6DA4B651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754" y="4870436"/>
            <a:ext cx="8534492" cy="12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4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4C3AF-740E-A096-0996-7A06A3280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Funkcje </a:t>
            </a:r>
            <a:r>
              <a:rPr lang="pl-PL" dirty="0">
                <a:solidFill>
                  <a:srgbClr val="FF0000"/>
                </a:solidFill>
              </a:rPr>
              <a:t>strzałkowe</a:t>
            </a:r>
            <a:r>
              <a:rPr lang="pl-PL" dirty="0"/>
              <a:t> jako argumenty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18E91C-5F35-D39D-7283-E13056A632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r>
              <a:rPr lang="pl-PL" dirty="0"/>
              <a:t>W testach automatycznych funkcje strzałkowe są niemal zawsze używane jako argumenty do metod frameworków </a:t>
            </a:r>
            <a:r>
              <a:rPr lang="pl-PL" b="1" dirty="0">
                <a:solidFill>
                  <a:srgbClr val="FF0000"/>
                </a:solidFill>
              </a:rPr>
              <a:t>(callbacki).</a:t>
            </a:r>
            <a:endParaRPr lang="en-GB" b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65FA20-0231-2BA5-B231-11352E3C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802" y="3016228"/>
            <a:ext cx="8674245" cy="197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6377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917A0C9-2914-8AA9-4F72-810F46452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54650"/>
            <a:ext cx="12192000" cy="828600"/>
          </a:xfrm>
        </p:spPr>
        <p:txBody>
          <a:bodyPr/>
          <a:lstStyle/>
          <a:p>
            <a:r>
              <a:rPr lang="pl-PL" dirty="0"/>
              <a:t>Obiekty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7852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5682B59-CB4B-7F6E-7580-2E4360F57B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Definicja oraz składnia </a:t>
            </a:r>
            <a:r>
              <a:rPr lang="pl-PL" dirty="0">
                <a:solidFill>
                  <a:srgbClr val="FF0000"/>
                </a:solidFill>
              </a:rPr>
              <a:t>obiektu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633846-417A-E163-5253-C74172D2EE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Obiekt to zbiór danych (właściwości) i funkcjonalności (metod) powiązanych ze sobą w jedną strukturę. W JavaScript/TypeScript, obiekty są strukturami typu </a:t>
            </a:r>
            <a:r>
              <a:rPr lang="pl-PL" b="1" dirty="0"/>
              <a:t>klucz-wartość</a:t>
            </a:r>
            <a:r>
              <a:rPr lang="pl-PL" dirty="0"/>
              <a:t> (key-value pairs).</a:t>
            </a:r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  <a:p>
            <a:pPr marL="101600" indent="0">
              <a:buNone/>
            </a:pPr>
            <a:endParaRPr lang="pl-P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C0BC1F9-0FAD-7751-825D-A27F5D8D0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3972" y="2186372"/>
            <a:ext cx="6683478" cy="420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69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70480-D0F4-AEA5-BC8F-70CDD50FF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Typowanie </a:t>
            </a:r>
            <a:r>
              <a:rPr lang="pl-PL" dirty="0">
                <a:solidFill>
                  <a:srgbClr val="FF0000"/>
                </a:solidFill>
              </a:rPr>
              <a:t>obiektów</a:t>
            </a:r>
            <a:r>
              <a:rPr lang="pl-PL" dirty="0"/>
              <a:t> 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BF294-A9E9-4E5D-DBFF-8087F19CE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01600" indent="0">
              <a:buNone/>
            </a:pPr>
            <a:r>
              <a:rPr lang="pl-PL" dirty="0"/>
              <a:t>Czysty JavaScript nie sprawdza, czy obiekt ma oczekiwane właściwości, co prowadzi do błędów w czasie wykonania. </a:t>
            </a:r>
            <a:r>
              <a:rPr lang="pl-PL" b="1" dirty="0">
                <a:solidFill>
                  <a:srgbClr val="FF0000"/>
                </a:solidFill>
              </a:rPr>
              <a:t>TypeScript rozwiązuje ten problem</a:t>
            </a:r>
            <a:r>
              <a:rPr lang="pl-PL" dirty="0">
                <a:solidFill>
                  <a:srgbClr val="FF0000"/>
                </a:solidFill>
              </a:rPr>
              <a:t> </a:t>
            </a:r>
            <a:r>
              <a:rPr lang="pl-PL" dirty="0"/>
              <a:t>poprzez użycie </a:t>
            </a:r>
            <a:r>
              <a:rPr lang="pl-PL" b="1" dirty="0">
                <a:solidFill>
                  <a:srgbClr val="FF0000"/>
                </a:solidFill>
              </a:rPr>
              <a:t>interfejsów.</a:t>
            </a:r>
          </a:p>
          <a:p>
            <a:pPr marL="101600" indent="0">
              <a:buNone/>
            </a:pPr>
            <a:endParaRPr lang="pl-PL" b="1" dirty="0">
              <a:solidFill>
                <a:srgbClr val="FF0000"/>
              </a:solidFill>
            </a:endParaRPr>
          </a:p>
          <a:p>
            <a:pPr marL="101600" indent="0">
              <a:buNone/>
            </a:pPr>
            <a:r>
              <a:rPr lang="pl-PL" b="1" dirty="0">
                <a:solidFill>
                  <a:srgbClr val="FF0000"/>
                </a:solidFill>
              </a:rPr>
              <a:t>Interfejsy</a:t>
            </a:r>
            <a:r>
              <a:rPr lang="pl-PL" dirty="0"/>
              <a:t> definiują </a:t>
            </a:r>
            <a:r>
              <a:rPr lang="pl-PL" b="1" dirty="0">
                <a:solidFill>
                  <a:srgbClr val="FF0000"/>
                </a:solidFill>
              </a:rPr>
              <a:t>kontrakt</a:t>
            </a:r>
            <a:r>
              <a:rPr lang="pl-PL" dirty="0"/>
              <a:t> – określają, jakie nazwy właściwości (klucze) muszą istnieć w obiekcie i jakiego typu (string, number, boolean itd.) muszą być ich wartości.</a:t>
            </a:r>
            <a:endParaRPr lang="en-GB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A1C6A5-59BC-9DBB-677E-DAA4362435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904" y="3535193"/>
            <a:ext cx="6486646" cy="2879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047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1C88-4CF4-E93F-4E9D-9E42CF46B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l-PL" dirty="0"/>
              <a:t>Destrukturyzacja </a:t>
            </a:r>
            <a:r>
              <a:rPr lang="pl-PL" dirty="0">
                <a:solidFill>
                  <a:srgbClr val="FF0000"/>
                </a:solidFill>
              </a:rPr>
              <a:t>obiektów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3FCFF0-11E3-801E-10DD-CD774E4A4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750" y="1500250"/>
            <a:ext cx="11566500" cy="4538100"/>
          </a:xfrm>
        </p:spPr>
        <p:txBody>
          <a:bodyPr/>
          <a:lstStyle/>
          <a:p>
            <a:pPr marL="101600" indent="0">
              <a:buNone/>
            </a:pPr>
            <a:r>
              <a:rPr lang="pl-PL" dirty="0"/>
              <a:t>Destrukturyzacja to wygodna i powszechnie używana składnia pozwalająca na szybkie "wyciągnięcie" właściwości z obiektu i przypisanie ich do lokalnych zmiennych.</a:t>
            </a: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9365AE-6BAE-7485-F2BB-690F2DA74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8128" y="2612987"/>
            <a:ext cx="6035744" cy="326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63086"/>
      </p:ext>
    </p:extLst>
  </p:cSld>
  <p:clrMapOvr>
    <a:masterClrMapping/>
  </p:clrMapOvr>
</p:sld>
</file>

<file path=ppt/theme/theme1.xml><?xml version="1.0" encoding="utf-8"?>
<a:theme xmlns:a="http://schemas.openxmlformats.org/drawingml/2006/main" name="iSA - google slides">
  <a:themeElements>
    <a:clrScheme name="infoShare Academy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20B32"/>
      </a:accent1>
      <a:accent2>
        <a:srgbClr val="5500FC"/>
      </a:accent2>
      <a:accent3>
        <a:srgbClr val="01F9FB"/>
      </a:accent3>
      <a:accent4>
        <a:srgbClr val="F20B32"/>
      </a:accent4>
      <a:accent5>
        <a:srgbClr val="5500FC"/>
      </a:accent5>
      <a:accent6>
        <a:srgbClr val="01F9FB"/>
      </a:accent6>
      <a:hlink>
        <a:srgbClr val="F20B32"/>
      </a:hlink>
      <a:folHlink>
        <a:srgbClr val="5500F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2341</TotalTime>
  <Words>1881</Words>
  <Application>Microsoft Office PowerPoint</Application>
  <PresentationFormat>Widescreen</PresentationFormat>
  <Paragraphs>267</Paragraphs>
  <Slides>44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3" baseType="lpstr">
      <vt:lpstr>Arial</vt:lpstr>
      <vt:lpstr>Poppins</vt:lpstr>
      <vt:lpstr>Poppins Medium</vt:lpstr>
      <vt:lpstr>Poppins Black</vt:lpstr>
      <vt:lpstr>Google Sans Text</vt:lpstr>
      <vt:lpstr>Noto Sans Symbols</vt:lpstr>
      <vt:lpstr>Poppins Light</vt:lpstr>
      <vt:lpstr>Calibri</vt:lpstr>
      <vt:lpstr>iSA - google slides</vt:lpstr>
      <vt:lpstr>Podstawy TypeScript</vt:lpstr>
      <vt:lpstr>PowerPoint Presentation</vt:lpstr>
      <vt:lpstr>Agenda dzisiejszego dnia</vt:lpstr>
      <vt:lpstr>Czym jest JavaScript i TypeScript?</vt:lpstr>
      <vt:lpstr>JavaScript vs. TypeScript</vt:lpstr>
      <vt:lpstr>Czym jest JavaScript (JS)?</vt:lpstr>
      <vt:lpstr>Czym jest TypeScript (TS)?</vt:lpstr>
      <vt:lpstr>Główne różnice pomiędzy JS a TS</vt:lpstr>
      <vt:lpstr>Dlaczego warto uczyć się TypeScript w kontekście testów automatycznych?</vt:lpstr>
      <vt:lpstr>Co jest potrzebne do pracy z TypeScript?</vt:lpstr>
      <vt:lpstr>Środowisko uruchomieniowe – Node.JS</vt:lpstr>
      <vt:lpstr>Menadżer pakietów – npm </vt:lpstr>
      <vt:lpstr>Kompilator TypeScript - tsc</vt:lpstr>
      <vt:lpstr>Edytor kodu (IDE)</vt:lpstr>
      <vt:lpstr>Zmienne</vt:lpstr>
      <vt:lpstr>Syntax tworzenia zmiennych</vt:lpstr>
      <vt:lpstr>Zmienne – let, const i var</vt:lpstr>
      <vt:lpstr>Zasady nazywania zmiennych</vt:lpstr>
      <vt:lpstr>Co tutaj jest nie tak?</vt:lpstr>
      <vt:lpstr>Typy danych</vt:lpstr>
      <vt:lpstr>Typy prymitywne</vt:lpstr>
      <vt:lpstr>Cechy typów prymitywnych</vt:lpstr>
      <vt:lpstr>Typy złożone</vt:lpstr>
      <vt:lpstr>Typy złożone</vt:lpstr>
      <vt:lpstr>Przykłady typów złożonych</vt:lpstr>
      <vt:lpstr>Operatory</vt:lpstr>
      <vt:lpstr>Operatory</vt:lpstr>
      <vt:lpstr>Instrukcje warunkowe</vt:lpstr>
      <vt:lpstr>Instrukcje warunkowe</vt:lpstr>
      <vt:lpstr>Rozszerzona składnia warunku IF</vt:lpstr>
      <vt:lpstr>Instrukcja try...catch...finally</vt:lpstr>
      <vt:lpstr>Pętle i iteracje</vt:lpstr>
      <vt:lpstr>Pętla for </vt:lpstr>
      <vt:lpstr>Pętla while</vt:lpstr>
      <vt:lpstr>Pętla do...while</vt:lpstr>
      <vt:lpstr>Iteracja po kolekcjach</vt:lpstr>
      <vt:lpstr>Funkcje</vt:lpstr>
      <vt:lpstr>Funkcje klasyczne</vt:lpstr>
      <vt:lpstr>Funkcje strzałkowe</vt:lpstr>
      <vt:lpstr>Funkcje strzałkowe jako argumenty</vt:lpstr>
      <vt:lpstr>Obiekty</vt:lpstr>
      <vt:lpstr>Definicja oraz składnia obiektu</vt:lpstr>
      <vt:lpstr>Typowanie obiektów </vt:lpstr>
      <vt:lpstr>Destrukturyzacja obiektów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LAYOUT PRESENTATION</dc:title>
  <cp:lastModifiedBy>Igor Czyrski</cp:lastModifiedBy>
  <cp:revision>5</cp:revision>
  <dcterms:modified xsi:type="dcterms:W3CDTF">2025-11-25T16:37:48Z</dcterms:modified>
</cp:coreProperties>
</file>