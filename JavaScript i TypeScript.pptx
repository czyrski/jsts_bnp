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omments/modernComment_11D_6D6CA824.xml" ContentType="application/vnd.ms-powerpoint.comments+xml"/>
  <Override PartName="/ppt/notesSlides/notesSlide4.xml" ContentType="application/vnd.openxmlformats-officedocument.presentationml.notesSlide+xml"/>
  <Override PartName="/ppt/comments/modernComment_127_F67E2FEB.xml" ContentType="application/vnd.ms-powerpoint.comments+xml"/>
  <Override PartName="/ppt/notesSlides/notesSlide5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0" r:id="rId1"/>
  </p:sldMasterIdLst>
  <p:notesMasterIdLst>
    <p:notesMasterId r:id="rId48"/>
  </p:notesMasterIdLst>
  <p:sldIdLst>
    <p:sldId id="256" r:id="rId2"/>
    <p:sldId id="284" r:id="rId3"/>
    <p:sldId id="285" r:id="rId4"/>
    <p:sldId id="286" r:id="rId5"/>
    <p:sldId id="287" r:id="rId6"/>
    <p:sldId id="288" r:id="rId7"/>
    <p:sldId id="290" r:id="rId8"/>
    <p:sldId id="289" r:id="rId9"/>
    <p:sldId id="291" r:id="rId10"/>
    <p:sldId id="292" r:id="rId11"/>
    <p:sldId id="293" r:id="rId12"/>
    <p:sldId id="294" r:id="rId13"/>
    <p:sldId id="295" r:id="rId14"/>
    <p:sldId id="296" r:id="rId15"/>
    <p:sldId id="297" r:id="rId16"/>
    <p:sldId id="299" r:id="rId17"/>
    <p:sldId id="298" r:id="rId18"/>
    <p:sldId id="300" r:id="rId19"/>
    <p:sldId id="301" r:id="rId20"/>
    <p:sldId id="302" r:id="rId21"/>
    <p:sldId id="303" r:id="rId22"/>
    <p:sldId id="304" r:id="rId23"/>
    <p:sldId id="305" r:id="rId24"/>
    <p:sldId id="306" r:id="rId25"/>
    <p:sldId id="307" r:id="rId26"/>
    <p:sldId id="308" r:id="rId27"/>
    <p:sldId id="309" r:id="rId28"/>
    <p:sldId id="310" r:id="rId29"/>
    <p:sldId id="311" r:id="rId30"/>
    <p:sldId id="312" r:id="rId31"/>
    <p:sldId id="318" r:id="rId32"/>
    <p:sldId id="313" r:id="rId33"/>
    <p:sldId id="314" r:id="rId34"/>
    <p:sldId id="315" r:id="rId35"/>
    <p:sldId id="316" r:id="rId36"/>
    <p:sldId id="317" r:id="rId37"/>
    <p:sldId id="319" r:id="rId38"/>
    <p:sldId id="320" r:id="rId39"/>
    <p:sldId id="321" r:id="rId40"/>
    <p:sldId id="322" r:id="rId41"/>
    <p:sldId id="323" r:id="rId42"/>
    <p:sldId id="324" r:id="rId43"/>
    <p:sldId id="325" r:id="rId44"/>
    <p:sldId id="326" r:id="rId45"/>
    <p:sldId id="327" r:id="rId46"/>
    <p:sldId id="328" r:id="rId47"/>
  </p:sldIdLst>
  <p:sldSz cx="12192000" cy="6858000"/>
  <p:notesSz cx="6858000" cy="9144000"/>
  <p:embeddedFontLst>
    <p:embeddedFont>
      <p:font typeface="Poppins" panose="00000500000000000000" pitchFamily="2" charset="0"/>
      <p:regular r:id="rId49"/>
      <p:bold r:id="rId50"/>
      <p:italic r:id="rId51"/>
      <p:boldItalic r:id="rId52"/>
    </p:embeddedFont>
    <p:embeddedFont>
      <p:font typeface="Poppins Black" panose="00000A00000000000000" pitchFamily="2" charset="0"/>
      <p:bold r:id="rId53"/>
      <p:italic r:id="rId54"/>
      <p:boldItalic r:id="rId55"/>
    </p:embeddedFont>
    <p:embeddedFont>
      <p:font typeface="Poppins Light" panose="00000400000000000000" pitchFamily="2" charset="0"/>
      <p:regular r:id="rId56"/>
      <p:bold r:id="rId57"/>
      <p:italic r:id="rId58"/>
      <p:boldItalic r:id="rId59"/>
    </p:embeddedFont>
    <p:embeddedFont>
      <p:font typeface="Poppins Medium" panose="00000600000000000000" pitchFamily="2" charset="0"/>
      <p:regular r:id="rId60"/>
      <p:bold r:id="rId61"/>
      <p:italic r:id="rId62"/>
      <p:boldItalic r:id="rId6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6E39B8D-B457-FE6D-3C77-89ED0FDBF4FB}" name="Igor Czyrski" initials="IC" userId="S::igor.czyrski@niceproject.eu::df750820-bd22-4daa-8429-73cb204271d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ACFF40F-6864-4E23-A38A-F3DD8219100D}">
  <a:tblStyle styleId="{9ACFF40F-6864-4E23-A38A-F3DD8219100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 b="off" i="off"/>
      <a:tcStyle>
        <a:tcBdr/>
      </a:tcStyle>
    </a:band1H>
    <a:band2H>
      <a:tcTxStyle b="off" i="off"/>
      <a:tcStyle>
        <a:tcBdr/>
      </a:tcStyle>
    </a:band2H>
    <a:band1V>
      <a:tcTxStyle b="off" i="off"/>
      <a:tcStyle>
        <a:tcBdr/>
      </a:tcStyle>
    </a:band1V>
    <a:band2V>
      <a:tcTxStyle b="off" i="off"/>
      <a:tcStyle>
        <a:tcBdr/>
      </a:tcStyle>
    </a:band2V>
    <a:lastCol>
      <a:tcTxStyle b="off" i="off"/>
      <a:tcStyle>
        <a:tcBdr/>
      </a:tcStyle>
    </a:lastCol>
    <a:firstCol>
      <a:tcTxStyle b="off" i="off"/>
      <a:tcStyle>
        <a:tcBdr/>
      </a:tcStyle>
    </a:firstCol>
    <a:lastRow>
      <a:tcTxStyle b="off" i="off"/>
      <a:tcStyle>
        <a:tcBdr/>
      </a:tcStyle>
    </a:lastRow>
    <a:seCell>
      <a:tcTxStyle b="off" i="off"/>
      <a:tcStyle>
        <a:tcBdr/>
      </a:tcStyle>
    </a:seCell>
    <a:swCell>
      <a:tcTxStyle b="off" i="off"/>
      <a:tcStyle>
        <a:tcBdr/>
      </a:tcStyle>
    </a:swCell>
    <a:firstRow>
      <a:tcTxStyle b="off" i="off"/>
      <a:tcStyle>
        <a:tcBdr/>
      </a:tcStyle>
    </a:firstRow>
    <a:neCell>
      <a:tcTxStyle b="off" i="off"/>
      <a:tcStyle>
        <a:tcBdr/>
      </a:tcStyle>
    </a:neCell>
    <a:nwCell>
      <a:tcTxStyle b="off" i="off"/>
      <a:tcStyle>
        <a:tcBdr/>
      </a:tcStyle>
    </a:nwCell>
  </a:tblStyle>
  <a:tblStyle styleId="{69012ECD-51FC-41F1-AA8D-1B2483CD663E}" styleName="Light Style 2 –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font" Target="fonts/font2.fntdata"/><Relationship Id="rId55" Type="http://schemas.openxmlformats.org/officeDocument/2006/relationships/font" Target="fonts/font7.fntdata"/><Relationship Id="rId63" Type="http://schemas.openxmlformats.org/officeDocument/2006/relationships/font" Target="fonts/font15.fntdata"/><Relationship Id="rId68" Type="http://schemas.microsoft.com/office/2018/10/relationships/authors" Target="author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font" Target="fonts/font5.fntdata"/><Relationship Id="rId58" Type="http://schemas.openxmlformats.org/officeDocument/2006/relationships/font" Target="fonts/font10.fntdata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font" Target="fonts/font1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56" Type="http://schemas.openxmlformats.org/officeDocument/2006/relationships/font" Target="fonts/font8.fntdata"/><Relationship Id="rId64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1.fntdata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font" Target="fonts/font6.fntdata"/><Relationship Id="rId62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font" Target="fonts/font1.fntdata"/><Relationship Id="rId57" Type="http://schemas.openxmlformats.org/officeDocument/2006/relationships/font" Target="fonts/font9.fntdata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font" Target="fonts/font4.fntdata"/><Relationship Id="rId60" Type="http://schemas.openxmlformats.org/officeDocument/2006/relationships/font" Target="fonts/font12.fntdata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omments/modernComment_11D_6D6CA82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3C2122E9-9FCF-4454-B8CC-7DDBB8D92DAE}" authorId="{06E39B8D-B457-FE6D-3C77-89ED0FDBF4FB}" created="2025-11-22T17:18:24.108">
    <pc:sldMkLst xmlns:pc="http://schemas.microsoft.com/office/powerpoint/2013/main/command">
      <pc:docMk/>
      <pc:sldMk cId="1835837476" sldId="285"/>
    </pc:sldMkLst>
    <p188:txBody>
      <a:bodyPr/>
      <a:lstStyle/>
      <a:p>
        <a:r>
          <a:rPr lang="en-GB"/>
          <a:t>Podstawy DOM do agendy </a:t>
        </a:r>
      </a:p>
    </p188:txBody>
  </p188:cm>
</p188:cmLst>
</file>

<file path=ppt/comments/modernComment_127_F67E2FEB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19AEEB9D-500A-48CC-BDAC-125179AB33E7}" authorId="{06E39B8D-B457-FE6D-3C77-89ED0FDBF4FB}" created="2025-11-22T17:19:05.124">
    <pc:sldMkLst xmlns:pc="http://schemas.microsoft.com/office/powerpoint/2013/main/command">
      <pc:docMk/>
      <pc:sldMk cId="4135464939" sldId="295"/>
    </pc:sldMkLst>
    <p188:txBody>
      <a:bodyPr/>
      <a:lstStyle/>
      <a:p>
        <a:r>
          <a:rPr lang="en-GB"/>
          <a:t>Trzeba sprawdzić tsconfig.json
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15" name="Google Shape;11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11dcda8c17e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n-GB"/>
          </a:p>
        </p:txBody>
      </p:sp>
      <p:sp>
        <p:nvSpPr>
          <p:cNvPr id="123" name="Google Shape;123;g11dcda8c17e_0_6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5652145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53" name="Google Shape;153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9969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392160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37188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lajd tytułowy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0" y="3567375"/>
            <a:ext cx="12192000" cy="4524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>
            <a:lvl1pPr lvl="0" algn="ctr"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>
                <a:solidFill>
                  <a:schemeClr val="lt2"/>
                </a:solidFill>
              </a:defRPr>
            </a:lvl1pPr>
            <a:lvl2pPr lvl="1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2pPr>
            <a:lvl3pPr lvl="2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3pPr>
            <a:lvl4pPr lvl="3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4pPr>
            <a:lvl5pPr lvl="4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5pPr>
            <a:lvl6pPr lvl="5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6pPr>
            <a:lvl7pPr lvl="6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7pPr>
            <a:lvl8pPr lvl="7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8pPr>
            <a:lvl9pPr lvl="8" algn="ctr"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2500"/>
              <a:buNone/>
              <a:defRPr sz="2500">
                <a:solidFill>
                  <a:schemeClr val="lt2"/>
                </a:solidFill>
              </a:defRPr>
            </a:lvl9pPr>
          </a:lstStyle>
          <a:p>
            <a:endParaRPr dirty="0"/>
          </a:p>
        </p:txBody>
      </p:sp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0" y="2833950"/>
            <a:ext cx="121920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Calibri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None/>
              <a:defRPr sz="4800">
                <a:solidFill>
                  <a:schemeClr val="lt2"/>
                </a:solidFill>
              </a:defRPr>
            </a:lvl9pPr>
          </a:lstStyle>
          <a:p>
            <a:endParaRPr dirty="0"/>
          </a:p>
        </p:txBody>
      </p:sp>
      <p:pic>
        <p:nvPicPr>
          <p:cNvPr id="12" name="Google Shape;12;p2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099690" y="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" name="Google Shape;13;p2"/>
          <p:cNvSpPr txBox="1"/>
          <p:nvPr/>
        </p:nvSpPr>
        <p:spPr>
          <a:xfrm>
            <a:off x="0" y="6262979"/>
            <a:ext cx="12192000" cy="444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pl-PL" sz="1400" b="0" i="0" u="none" strike="noStrike" cap="none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infoShareAcademy.com</a:t>
            </a:r>
            <a:endParaRPr sz="1400" b="0" i="0" u="none" strike="noStrike" cap="none"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4217550" y="6707875"/>
            <a:ext cx="3756900" cy="150000"/>
          </a:xfrm>
          <a:prstGeom prst="rect">
            <a:avLst/>
          </a:prstGeom>
          <a:solidFill>
            <a:schemeClr val="lt2"/>
          </a:solidFill>
          <a:ln w="9525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ello">
  <p:cSld name="CUSTOM_1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4"/>
          <p:cNvSpPr/>
          <p:nvPr/>
        </p:nvSpPr>
        <p:spPr>
          <a:xfrm>
            <a:off x="-1" y="1"/>
            <a:ext cx="12192000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" name="Google Shape;25;p4"/>
          <p:cNvSpPr txBox="1"/>
          <p:nvPr/>
        </p:nvSpPr>
        <p:spPr>
          <a:xfrm>
            <a:off x="532713" y="2274094"/>
            <a:ext cx="4054500" cy="81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20B32"/>
              </a:buClr>
              <a:buSzPts val="6000"/>
              <a:buFont typeface="Poppins Black"/>
              <a:buNone/>
            </a:pPr>
            <a:r>
              <a:rPr lang="pl-PL" sz="6000" dirty="0">
                <a:solidFill>
                  <a:srgbClr val="F20B32"/>
                </a:solidFill>
                <a:latin typeface="Poppins Black"/>
                <a:ea typeface="Poppins Black"/>
                <a:cs typeface="Poppins Black"/>
                <a:sym typeface="Poppins Black"/>
              </a:rPr>
              <a:t>HELLO</a:t>
            </a:r>
            <a:endParaRPr sz="6000" dirty="0">
              <a:solidFill>
                <a:srgbClr val="F20B32"/>
              </a:solidFill>
              <a:latin typeface="Poppins Black"/>
              <a:ea typeface="Poppins Black"/>
              <a:cs typeface="Poppins Black"/>
              <a:sym typeface="Poppins Black"/>
            </a:endParaRPr>
          </a:p>
        </p:txBody>
      </p:sp>
      <p:grpSp>
        <p:nvGrpSpPr>
          <p:cNvPr id="26" name="Google Shape;26;p4"/>
          <p:cNvGrpSpPr/>
          <p:nvPr/>
        </p:nvGrpSpPr>
        <p:grpSpPr>
          <a:xfrm>
            <a:off x="240796" y="202373"/>
            <a:ext cx="795017" cy="672375"/>
            <a:chOff x="554063" y="2615373"/>
            <a:chExt cx="795017" cy="672375"/>
          </a:xfrm>
        </p:grpSpPr>
        <p:sp>
          <p:nvSpPr>
            <p:cNvPr id="27" name="Google Shape;27;p4"/>
            <p:cNvSpPr/>
            <p:nvPr/>
          </p:nvSpPr>
          <p:spPr>
            <a:xfrm>
              <a:off x="845980" y="2784648"/>
              <a:ext cx="503100" cy="503100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28;p4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9" name="Google Shape;29;p4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" name="Google Shape;30;p4"/>
          <p:cNvSpPr txBox="1"/>
          <p:nvPr/>
        </p:nvSpPr>
        <p:spPr>
          <a:xfrm>
            <a:off x="2480733" y="2819400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4"/>
          <p:cNvSpPr/>
          <p:nvPr/>
        </p:nvSpPr>
        <p:spPr>
          <a:xfrm>
            <a:off x="8606971" y="2862797"/>
            <a:ext cx="3585000" cy="3995100"/>
          </a:xfrm>
          <a:prstGeom prst="rect">
            <a:avLst/>
          </a:prstGeom>
          <a:solidFill>
            <a:srgbClr val="F20B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32" name="Google Shape;32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9380" y="577800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33;p4"/>
          <p:cNvSpPr/>
          <p:nvPr/>
        </p:nvSpPr>
        <p:spPr>
          <a:xfrm>
            <a:off x="7592598" y="1980287"/>
            <a:ext cx="2879935" cy="2879935"/>
          </a:xfrm>
          <a:prstGeom prst="ellipse">
            <a:avLst/>
          </a:prstGeom>
          <a:solidFill>
            <a:srgbClr val="F20B32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4"/>
          <p:cNvSpPr txBox="1">
            <a:spLocks noGrp="1"/>
          </p:cNvSpPr>
          <p:nvPr>
            <p:ph type="subTitle" idx="1"/>
          </p:nvPr>
        </p:nvSpPr>
        <p:spPr>
          <a:xfrm>
            <a:off x="532725" y="3122175"/>
            <a:ext cx="6806700" cy="681000"/>
          </a:xfrm>
          <a:prstGeom prst="rect">
            <a:avLst/>
          </a:prstGeom>
        </p:spPr>
        <p:txBody>
          <a:bodyPr spcFirstLastPara="1" wrap="square" lIns="91425" tIns="82800" rIns="91425" bIns="91425" anchor="t" anchorCtr="0">
            <a:noAutofit/>
          </a:bodyPr>
          <a:lstStyle>
            <a:lvl1pPr marL="228600" marR="0" lvl="0" indent="-228600" algn="l" rtl="0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359B98"/>
              </a:buClr>
              <a:buSzPts val="3600"/>
              <a:buFont typeface="Noto Sans Symbols"/>
              <a:buNone/>
              <a:defRPr sz="3600"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2pPr>
            <a:lvl3pPr lvl="2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3pPr>
            <a:lvl4pPr lvl="3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4pPr>
            <a:lvl5pPr lvl="4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5pPr>
            <a:lvl6pPr lvl="5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6pPr>
            <a:lvl7pPr lvl="6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7pPr>
            <a:lvl8pPr lvl="7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8pPr>
            <a:lvl9pPr lvl="8">
              <a:spcBef>
                <a:spcPts val="50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35" name="Google Shape;35;p4"/>
          <p:cNvSpPr txBox="1">
            <a:spLocks noGrp="1"/>
          </p:cNvSpPr>
          <p:nvPr>
            <p:ph type="body" idx="2"/>
          </p:nvPr>
        </p:nvSpPr>
        <p:spPr>
          <a:xfrm>
            <a:off x="615400" y="3765100"/>
            <a:ext cx="6171600" cy="884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rtl="0">
              <a:spcBef>
                <a:spcPts val="1000"/>
              </a:spcBef>
              <a:spcAft>
                <a:spcPts val="0"/>
              </a:spcAft>
              <a:buSzPts val="1800"/>
              <a:buFont typeface="Poppins Light"/>
              <a:buChar char="•"/>
              <a:defRPr sz="1800"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lvl="1" indent="-317500" rtl="0">
              <a:spcBef>
                <a:spcPts val="500"/>
              </a:spcBef>
              <a:spcAft>
                <a:spcPts val="0"/>
              </a:spcAft>
              <a:buSzPts val="1400"/>
              <a:buFont typeface="Poppins Light"/>
              <a:buChar char="•"/>
              <a:defRPr sz="1400"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lvl="2" indent="-292100" rtl="0">
              <a:spcBef>
                <a:spcPts val="500"/>
              </a:spcBef>
              <a:spcAft>
                <a:spcPts val="0"/>
              </a:spcAft>
              <a:buSzPts val="1000"/>
              <a:buFont typeface="Poppins Light"/>
              <a:buChar char="•"/>
              <a:defRPr sz="1000"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lvl="3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lvl="4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lvl="5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lvl="6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lvl="7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lvl="8" indent="-279400" rtl="0">
              <a:spcBef>
                <a:spcPts val="500"/>
              </a:spcBef>
              <a:spcAft>
                <a:spcPts val="0"/>
              </a:spcAft>
              <a:buSzPts val="800"/>
              <a:buFont typeface="Poppins Light"/>
              <a:buChar char="•"/>
              <a:defRPr sz="80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White slide">
  <p:cSld name="White slide"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6"/>
          <p:cNvSpPr/>
          <p:nvPr/>
        </p:nvSpPr>
        <p:spPr>
          <a:xfrm>
            <a:off x="-1" y="1"/>
            <a:ext cx="12192000" cy="6858000"/>
          </a:xfrm>
          <a:prstGeom prst="rect">
            <a:avLst/>
          </a:prstGeom>
          <a:blipFill rotWithShape="1">
            <a:blip r:embed="rId2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8" name="Google Shape;48;p6"/>
          <p:cNvSpPr txBox="1">
            <a:spLocks noGrp="1"/>
          </p:cNvSpPr>
          <p:nvPr>
            <p:ph type="title"/>
          </p:nvPr>
        </p:nvSpPr>
        <p:spPr>
          <a:xfrm>
            <a:off x="1110175" y="466650"/>
            <a:ext cx="10243500" cy="50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Font typeface="Poppins"/>
              <a:buNone/>
              <a:defRPr sz="3200" b="1">
                <a:latin typeface="Poppins"/>
                <a:ea typeface="Poppins"/>
                <a:cs typeface="Poppins"/>
                <a:sym typeface="Poppi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  <p:grpSp>
        <p:nvGrpSpPr>
          <p:cNvPr id="49" name="Google Shape;49;p6"/>
          <p:cNvGrpSpPr/>
          <p:nvPr/>
        </p:nvGrpSpPr>
        <p:grpSpPr>
          <a:xfrm>
            <a:off x="240796" y="202373"/>
            <a:ext cx="795017" cy="672375"/>
            <a:chOff x="554063" y="2615373"/>
            <a:chExt cx="795017" cy="672375"/>
          </a:xfrm>
        </p:grpSpPr>
        <p:sp>
          <p:nvSpPr>
            <p:cNvPr id="50" name="Google Shape;50;p6"/>
            <p:cNvSpPr/>
            <p:nvPr/>
          </p:nvSpPr>
          <p:spPr>
            <a:xfrm>
              <a:off x="845980" y="2784648"/>
              <a:ext cx="503100" cy="503100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1" name="Google Shape;51;p6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52" name="Google Shape;52;p6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53" name="Google Shape;53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0199380" y="577800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6"/>
          <p:cNvSpPr txBox="1">
            <a:spLocks noGrp="1"/>
          </p:cNvSpPr>
          <p:nvPr>
            <p:ph type="body" idx="1"/>
          </p:nvPr>
        </p:nvSpPr>
        <p:spPr>
          <a:xfrm>
            <a:off x="312750" y="1239900"/>
            <a:ext cx="11566500" cy="45381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55600">
              <a:spcBef>
                <a:spcPts val="1000"/>
              </a:spcBef>
              <a:spcAft>
                <a:spcPts val="0"/>
              </a:spcAft>
              <a:buSzPts val="2000"/>
              <a:buChar char="•"/>
              <a:defRPr sz="2000"/>
            </a:lvl1pPr>
            <a:lvl2pPr marL="914400" lvl="1" indent="-330200">
              <a:spcBef>
                <a:spcPts val="500"/>
              </a:spcBef>
              <a:spcAft>
                <a:spcPts val="0"/>
              </a:spcAft>
              <a:buSzPts val="1600"/>
              <a:buChar char="•"/>
              <a:defRPr sz="1600"/>
            </a:lvl2pPr>
            <a:lvl3pPr marL="1371600" lvl="2" indent="-304800">
              <a:spcBef>
                <a:spcPts val="500"/>
              </a:spcBef>
              <a:spcAft>
                <a:spcPts val="0"/>
              </a:spcAft>
              <a:buSzPts val="1200"/>
              <a:buChar char="•"/>
              <a:defRPr sz="1200"/>
            </a:lvl3pPr>
            <a:lvl4pPr marL="1828800" lvl="3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4pPr>
            <a:lvl5pPr marL="2286000" lvl="4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5pPr>
            <a:lvl6pPr marL="2743200" lvl="5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6pPr>
            <a:lvl7pPr marL="3200400" lvl="6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7pPr>
            <a:lvl8pPr marL="3657600" lvl="7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8pPr>
            <a:lvl9pPr marL="4114800" lvl="8" indent="-292100">
              <a:spcBef>
                <a:spcPts val="500"/>
              </a:spcBef>
              <a:spcAft>
                <a:spcPts val="0"/>
              </a:spcAft>
              <a:buSzPts val="1000"/>
              <a:buChar char="•"/>
              <a:defRPr sz="1000"/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2452725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Poppins Medium"/>
              <a:buNone/>
              <a:defRPr sz="4400" i="0" u="none" strike="noStrike" cap="none">
                <a:solidFill>
                  <a:schemeClr val="dk1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oppins Medium"/>
              <a:buNone/>
              <a:defRPr sz="1800" i="0" u="none" strike="noStrike" cap="none">
                <a:solidFill>
                  <a:srgbClr val="000000"/>
                </a:solidFill>
                <a:latin typeface="Poppins Medium"/>
                <a:ea typeface="Poppins Medium"/>
                <a:cs typeface="Poppins Medium"/>
                <a:sym typeface="Poppins Medium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8735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Poppins Light"/>
              <a:buChar char="•"/>
              <a:defRPr sz="2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1pPr>
            <a:lvl2pPr marL="914400" marR="0" lvl="1" indent="-3619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Poppins Light"/>
              <a:buChar char="•"/>
              <a:defRPr sz="21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2pPr>
            <a:lvl3pPr marL="1371600" marR="0" lvl="2" indent="-3365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700"/>
              <a:buFont typeface="Poppins Light"/>
              <a:buChar char="•"/>
              <a:defRPr sz="17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3pPr>
            <a:lvl4pPr marL="1828800" marR="0" lvl="3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4pPr>
            <a:lvl5pPr marL="2286000" marR="0" lvl="4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5pPr>
            <a:lvl6pPr marL="2743200" marR="0" lvl="5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6pPr>
            <a:lvl7pPr marL="3200400" marR="0" lvl="6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7pPr>
            <a:lvl8pPr marL="3657600" marR="0" lvl="7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8pPr>
            <a:lvl9pPr marL="4114800" marR="0" lvl="8" indent="-32385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Poppins Light"/>
              <a:buChar char="•"/>
              <a:defRPr sz="1500" i="0" u="none" strike="noStrike" cap="none">
                <a:solidFill>
                  <a:schemeClr val="dk1"/>
                </a:solidFill>
                <a:latin typeface="Poppins Light"/>
                <a:ea typeface="Poppins Light"/>
                <a:cs typeface="Poppins Light"/>
                <a:sym typeface="Poppins Light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0" r:id="rId2"/>
    <p:sldLayoutId id="2147483661" r:id="rId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microsoft.com/office/2018/10/relationships/comments" Target="../comments/modernComment_11D_6D6CA824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nodejs.org/en/download" TargetMode="Externa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microsoft.com/office/2018/10/relationships/comments" Target="../comments/modernComment_127_F67E2FEB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hyperlink" Target="https://code.visualstudio.com/Download" TargetMode="Externa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3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3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3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3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3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3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3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3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3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3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4"/>
          <p:cNvSpPr txBox="1">
            <a:spLocks noGrp="1"/>
          </p:cNvSpPr>
          <p:nvPr>
            <p:ph type="ctrTitle"/>
          </p:nvPr>
        </p:nvSpPr>
        <p:spPr>
          <a:xfrm>
            <a:off x="0" y="2833950"/>
            <a:ext cx="12192000" cy="8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800"/>
              <a:buFont typeface="Poppins Black"/>
              <a:buNone/>
            </a:pPr>
            <a:r>
              <a:rPr lang="pl-PL" sz="4800" dirty="0">
                <a:solidFill>
                  <a:schemeClr val="lt1"/>
                </a:solidFill>
                <a:latin typeface="Poppins Black"/>
                <a:ea typeface="Poppins Black"/>
                <a:cs typeface="Poppins Black"/>
                <a:sym typeface="Poppins Black"/>
              </a:rPr>
              <a:t>Podstawy JavaScript/TypeScript</a:t>
            </a:r>
            <a:endParaRPr sz="4800" dirty="0">
              <a:solidFill>
                <a:schemeClr val="lt1"/>
              </a:solidFill>
              <a:latin typeface="Poppins Black"/>
              <a:ea typeface="Poppins Black"/>
              <a:cs typeface="Poppins Black"/>
              <a:sym typeface="Poppins Black"/>
            </a:endParaRPr>
          </a:p>
        </p:txBody>
      </p:sp>
      <p:sp>
        <p:nvSpPr>
          <p:cNvPr id="118" name="Google Shape;118;p14"/>
          <p:cNvSpPr txBox="1">
            <a:spLocks noGrp="1"/>
          </p:cNvSpPr>
          <p:nvPr>
            <p:ph type="subTitle" idx="1"/>
          </p:nvPr>
        </p:nvSpPr>
        <p:spPr>
          <a:xfrm>
            <a:off x="0" y="3567375"/>
            <a:ext cx="12192000" cy="45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</a:pPr>
            <a:r>
              <a:rPr lang="pl-PL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</a:t>
            </a:r>
            <a:r>
              <a:rPr lang="pl-PL" dirty="0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 </a:t>
            </a:r>
            <a:r>
              <a:rPr lang="pl-PL" dirty="0" err="1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Academy</a:t>
            </a:r>
            <a:endParaRPr dirty="0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  <p:pic>
        <p:nvPicPr>
          <p:cNvPr id="119" name="Google Shape;119;p14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099690" y="0"/>
            <a:ext cx="1992620" cy="1080000"/>
          </a:xfrm>
          <a:prstGeom prst="rect">
            <a:avLst/>
          </a:prstGeom>
          <a:noFill/>
          <a:ln>
            <a:noFill/>
          </a:ln>
        </p:spPr>
      </p:pic>
      <p:sp>
        <p:nvSpPr>
          <p:cNvPr id="120" name="Google Shape;120;p14"/>
          <p:cNvSpPr txBox="1"/>
          <p:nvPr/>
        </p:nvSpPr>
        <p:spPr>
          <a:xfrm>
            <a:off x="0" y="6262979"/>
            <a:ext cx="12192000" cy="4450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marR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</a:pPr>
            <a:r>
              <a:rPr lang="pl-PL" sz="1400" b="0" i="0" u="none" strike="noStrike" cap="none">
                <a:solidFill>
                  <a:schemeClr val="lt1"/>
                </a:solidFill>
                <a:latin typeface="Poppins Light"/>
                <a:ea typeface="Poppins Light"/>
                <a:cs typeface="Poppins Light"/>
                <a:sym typeface="Poppins Light"/>
              </a:rPr>
              <a:t>infoShareAcademy.com</a:t>
            </a:r>
            <a:endParaRPr sz="1400" b="0" i="0" u="none" strike="noStrike" cap="none">
              <a:solidFill>
                <a:schemeClr val="lt1"/>
              </a:solidFill>
              <a:latin typeface="Poppins Light"/>
              <a:ea typeface="Poppins Light"/>
              <a:cs typeface="Poppins Light"/>
              <a:sym typeface="Poppins Ligh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5"/>
          <p:cNvSpPr txBox="1">
            <a:spLocks noGrp="1"/>
          </p:cNvSpPr>
          <p:nvPr>
            <p:ph type="subTitle" idx="1"/>
          </p:nvPr>
        </p:nvSpPr>
        <p:spPr>
          <a:xfrm>
            <a:off x="532725" y="3122175"/>
            <a:ext cx="6806700" cy="681000"/>
          </a:xfrm>
          <a:prstGeom prst="rect">
            <a:avLst/>
          </a:prstGeom>
        </p:spPr>
        <p:txBody>
          <a:bodyPr spcFirstLastPara="1" wrap="square" lIns="91425" tIns="82800" rIns="91425" bIns="91425" anchor="t" anchorCtr="0">
            <a:noAutofit/>
          </a:bodyPr>
          <a:lstStyle/>
          <a:p>
            <a:pPr marL="0" lvl="0" indent="0" algn="l" rtl="0">
              <a:lnSpc>
                <a:spcPct val="94000"/>
              </a:lnSpc>
              <a:spcBef>
                <a:spcPts val="0"/>
              </a:spcBef>
              <a:spcAft>
                <a:spcPts val="0"/>
              </a:spcAft>
              <a:buClr>
                <a:srgbClr val="359B98"/>
              </a:buClr>
              <a:buSzPts val="1018"/>
              <a:buFont typeface="Noto Sans Symbols"/>
              <a:buNone/>
            </a:pPr>
            <a:r>
              <a:rPr lang="pl-PL" sz="3630" dirty="0"/>
              <a:t>IGOR CZYRSKI</a:t>
            </a:r>
            <a:endParaRPr sz="3630" dirty="0"/>
          </a:p>
        </p:txBody>
      </p:sp>
      <p:sp>
        <p:nvSpPr>
          <p:cNvPr id="126" name="Google Shape;126;p15"/>
          <p:cNvSpPr txBox="1">
            <a:spLocks noGrp="1"/>
          </p:cNvSpPr>
          <p:nvPr>
            <p:ph type="body" idx="2"/>
          </p:nvPr>
        </p:nvSpPr>
        <p:spPr>
          <a:xfrm>
            <a:off x="615400" y="4261558"/>
            <a:ext cx="6171600" cy="1874065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l-PL" dirty="0"/>
              <a:t>Tester automatyzujący (6+ exp)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 lang="pl-PL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lang="pl-PL" dirty="0"/>
              <a:t>Python, JS/TS, Robot Framework, Playwright, Cypress, Storybook, Docker, CI/CD</a:t>
            </a:r>
            <a:br>
              <a:rPr lang="pl-PL" dirty="0"/>
            </a:br>
            <a:br>
              <a:rPr lang="pl-PL" dirty="0"/>
            </a:br>
            <a:r>
              <a:rPr lang="pl-PL" dirty="0"/>
              <a:t>Obecnie zajmuje się testowaniem aplikacji webowych</a:t>
            </a:r>
          </a:p>
        </p:txBody>
      </p:sp>
      <p:pic>
        <p:nvPicPr>
          <p:cNvPr id="5" name="Picture 4" descr="A person wearing round glasses&#10;&#10;Description automatically generated">
            <a:extLst>
              <a:ext uri="{FF2B5EF4-FFF2-40B4-BE49-F238E27FC236}">
                <a16:creationId xmlns:a16="http://schemas.microsoft.com/office/drawing/2014/main" id="{EFFBD19F-2A1D-E165-5E7A-A41307A5FD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14398" y="2128983"/>
            <a:ext cx="2600034" cy="2600034"/>
          </a:xfrm>
          <a:prstGeom prst="ellipse">
            <a:avLst/>
          </a:prstGeom>
          <a:ln w="63500" cap="rnd">
            <a:noFill/>
          </a:ln>
          <a:effectLst/>
        </p:spPr>
      </p:pic>
    </p:spTree>
    <p:extLst>
      <p:ext uri="{BB962C8B-B14F-4D97-AF65-F5344CB8AC3E}">
        <p14:creationId xmlns:p14="http://schemas.microsoft.com/office/powerpoint/2010/main" val="1513955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8"/>
          <p:cNvSpPr txBox="1">
            <a:spLocks noGrp="1"/>
          </p:cNvSpPr>
          <p:nvPr>
            <p:ph type="title"/>
          </p:nvPr>
        </p:nvSpPr>
        <p:spPr>
          <a:xfrm>
            <a:off x="1110175" y="466650"/>
            <a:ext cx="10243500" cy="50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Poppins Black"/>
              <a:buNone/>
            </a:pPr>
            <a:r>
              <a:rPr lang="pl-PL" dirty="0">
                <a:latin typeface="Poppins Black"/>
                <a:ea typeface="Poppins Black"/>
                <a:cs typeface="Poppins Black"/>
                <a:sym typeface="Poppins Black"/>
              </a:rPr>
              <a:t>Agenda dzisiejszego </a:t>
            </a:r>
            <a:r>
              <a:rPr lang="pl-PL" dirty="0">
                <a:solidFill>
                  <a:srgbClr val="F20B32"/>
                </a:solidFill>
                <a:latin typeface="Poppins Black"/>
                <a:ea typeface="Poppins Black"/>
                <a:cs typeface="Poppins Black"/>
                <a:sym typeface="Poppins Black"/>
              </a:rPr>
              <a:t>dnia</a:t>
            </a:r>
          </a:p>
        </p:txBody>
      </p:sp>
      <p:grpSp>
        <p:nvGrpSpPr>
          <p:cNvPr id="156" name="Google Shape;156;p18"/>
          <p:cNvGrpSpPr/>
          <p:nvPr/>
        </p:nvGrpSpPr>
        <p:grpSpPr>
          <a:xfrm>
            <a:off x="240796" y="202373"/>
            <a:ext cx="795002" cy="672360"/>
            <a:chOff x="554063" y="2615373"/>
            <a:chExt cx="795002" cy="672360"/>
          </a:xfrm>
        </p:grpSpPr>
        <p:sp>
          <p:nvSpPr>
            <p:cNvPr id="157" name="Google Shape;157;p18"/>
            <p:cNvSpPr/>
            <p:nvPr/>
          </p:nvSpPr>
          <p:spPr>
            <a:xfrm>
              <a:off x="845980" y="2784648"/>
              <a:ext cx="503085" cy="503085"/>
            </a:xfrm>
            <a:prstGeom prst="ellipse">
              <a:avLst/>
            </a:prstGeom>
            <a:solidFill>
              <a:srgbClr val="F20B32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8" name="Google Shape;158;p18"/>
            <p:cNvSpPr/>
            <p:nvPr/>
          </p:nvSpPr>
          <p:spPr>
            <a:xfrm>
              <a:off x="554063" y="2934378"/>
              <a:ext cx="216000" cy="216000"/>
            </a:xfrm>
            <a:prstGeom prst="ellipse">
              <a:avLst/>
            </a:prstGeom>
            <a:solidFill>
              <a:srgbClr val="5500FC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9" name="Google Shape;159;p18"/>
            <p:cNvSpPr/>
            <p:nvPr/>
          </p:nvSpPr>
          <p:spPr>
            <a:xfrm>
              <a:off x="685097" y="2615373"/>
              <a:ext cx="216000" cy="216000"/>
            </a:xfrm>
            <a:prstGeom prst="ellipse">
              <a:avLst/>
            </a:prstGeom>
            <a:solidFill>
              <a:srgbClr val="01F9F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800"/>
                <a:buFont typeface="Arial"/>
                <a:buNone/>
              </a:pPr>
              <a:endParaRPr sz="1800" b="0" i="0" u="none" strike="noStrike" cap="non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60" name="Google Shape;160;p18"/>
          <p:cNvSpPr txBox="1"/>
          <p:nvPr/>
        </p:nvSpPr>
        <p:spPr>
          <a:xfrm>
            <a:off x="2480733" y="2819400"/>
            <a:ext cx="184731" cy="3693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8"/>
          <p:cNvSpPr txBox="1">
            <a:spLocks noGrp="1"/>
          </p:cNvSpPr>
          <p:nvPr>
            <p:ph type="body" idx="1"/>
          </p:nvPr>
        </p:nvSpPr>
        <p:spPr>
          <a:xfrm>
            <a:off x="651675" y="1853250"/>
            <a:ext cx="9991941" cy="4538100"/>
          </a:xfrm>
          <a:prstGeom prst="rect">
            <a:avLst/>
          </a:prstGeom>
        </p:spPr>
        <p:txBody>
          <a:bodyPr spcFirstLastPara="1" wrap="square" lIns="91425" tIns="45700" rIns="91425" bIns="45700" numCol="1" anchor="t" anchorCtr="0">
            <a:normAutofit/>
          </a:bodyPr>
          <a:lstStyle/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Czym jest JavaScript oraz TypeScript?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Co jest potrzebne do pracy z TypeScript?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Zmienne, typy danych, operatory, instrukcje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Pętle, iteracje, funkcje, funkcje strzałkowe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Obiekty i tablice</a:t>
            </a:r>
          </a:p>
          <a:p>
            <a:pPr lvl="0" indent="-457200" algn="l" rtl="0">
              <a:spcBef>
                <a:spcPts val="1000"/>
              </a:spcBef>
              <a:spcAft>
                <a:spcPts val="0"/>
              </a:spcAft>
              <a:buAutoNum type="arabicPeriod"/>
            </a:pPr>
            <a:r>
              <a:rPr lang="pl-PL" dirty="0"/>
              <a:t>Asercje</a:t>
            </a:r>
          </a:p>
        </p:txBody>
      </p:sp>
    </p:spTree>
    <p:extLst>
      <p:ext uri="{BB962C8B-B14F-4D97-AF65-F5344CB8AC3E}">
        <p14:creationId xmlns:p14="http://schemas.microsoft.com/office/powerpoint/2010/main" val="183583747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ubtitle 4">
            <a:extLst>
              <a:ext uri="{FF2B5EF4-FFF2-40B4-BE49-F238E27FC236}">
                <a16:creationId xmlns:a16="http://schemas.microsoft.com/office/drawing/2014/main" id="{DBF65143-8D87-1B50-AA61-5F5D0EB2AE5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pl-PL" dirty="0"/>
              <a:t>I dlaczego warto go poznać?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1856885-AE03-40B8-8A69-CCCC9EF8493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Czym jest JavaScript i TypeScript?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030022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1CDCE11-011B-B35E-E730-9F1DE2179E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Czym jest </a:t>
            </a:r>
            <a:r>
              <a:rPr lang="pl-PL" dirty="0">
                <a:solidFill>
                  <a:srgbClr val="FF0000"/>
                </a:solidFill>
              </a:rPr>
              <a:t>J</a:t>
            </a:r>
            <a:r>
              <a:rPr lang="pl-PL" dirty="0"/>
              <a:t>ava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>
                <a:solidFill>
                  <a:schemeClr val="tx1"/>
                </a:solidFill>
              </a:rPr>
              <a:t>cript</a:t>
            </a:r>
            <a:r>
              <a:rPr lang="pl-PL" dirty="0"/>
              <a:t> (</a:t>
            </a:r>
            <a:r>
              <a:rPr lang="pl-PL" dirty="0">
                <a:solidFill>
                  <a:srgbClr val="FF0000"/>
                </a:solidFill>
              </a:rPr>
              <a:t>JS</a:t>
            </a:r>
            <a:r>
              <a:rPr lang="pl-PL" dirty="0"/>
              <a:t>)?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4B184C-F500-CE69-1ADF-49F216E95C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239900"/>
            <a:ext cx="11566500" cy="5044894"/>
          </a:xfrm>
        </p:spPr>
        <p:txBody>
          <a:bodyPr>
            <a:normAutofit/>
          </a:bodyPr>
          <a:lstStyle/>
          <a:p>
            <a:pPr marL="101600" indent="0">
              <a:spcBef>
                <a:spcPts val="800"/>
              </a:spcBef>
              <a:buNone/>
            </a:pPr>
            <a:r>
              <a:rPr lang="pl-PL" b="1" dirty="0">
                <a:solidFill>
                  <a:srgbClr val="FF0000"/>
                </a:solidFill>
              </a:rPr>
              <a:t>JavaScript</a:t>
            </a:r>
            <a:r>
              <a:rPr lang="pl-PL" dirty="0"/>
              <a:t> to wysokopoziomowy, interpretowany język programowania, który jest głównie wykorzystywany do tworzenia </a:t>
            </a:r>
            <a:r>
              <a:rPr lang="pl-PL" b="1" dirty="0">
                <a:solidFill>
                  <a:srgbClr val="FF0000"/>
                </a:solidFill>
              </a:rPr>
              <a:t>interaktywnych</a:t>
            </a:r>
            <a:r>
              <a:rPr lang="pl-PL" dirty="0"/>
              <a:t> elementów stron internetowych (w przeglądarce).</a:t>
            </a:r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r>
              <a:rPr lang="pl-PL" dirty="0"/>
              <a:t>Jest językiem sieci Web – jednym z trzech filarów rozwoju stron internetowych (HTML, CSS i JS)</a:t>
            </a:r>
            <a:br>
              <a:rPr lang="pl-PL" dirty="0"/>
            </a:br>
            <a:br>
              <a:rPr lang="pl-PL" dirty="0"/>
            </a:br>
            <a:r>
              <a:rPr lang="pl-PL" dirty="0"/>
              <a:t>Jest dynamicznie typowany – oznacza to, że nie musisz deklarować typu zmiennej jawnie, a jej typ </a:t>
            </a:r>
            <a:r>
              <a:rPr lang="pl-PL" dirty="0">
                <a:solidFill>
                  <a:srgbClr val="FF0000"/>
                </a:solidFill>
              </a:rPr>
              <a:t>może się zmieniać </a:t>
            </a:r>
            <a:r>
              <a:rPr lang="pl-PL" dirty="0"/>
              <a:t>w trakcie działania programu.</a:t>
            </a:r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endParaRPr lang="pl-PL" dirty="0"/>
          </a:p>
          <a:p>
            <a:pPr marL="101600" indent="0">
              <a:spcBef>
                <a:spcPts val="800"/>
              </a:spcBef>
              <a:buNone/>
            </a:pPr>
            <a:r>
              <a:rPr lang="pl-PL" dirty="0"/>
              <a:t>Jest interpretowalny – kod jest wykonywany przez silnik JS (np. V8 w Chrome). Nowoczesne silniki JS tak naprawdę wykonują kompilację JIT.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0AC608-2141-EB93-E89A-B1A64B3B72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0275" y="4232425"/>
            <a:ext cx="7971450" cy="7226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744063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8603C4-92F3-ECE4-B837-FAF4852F37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Czym jest </a:t>
            </a:r>
            <a:r>
              <a:rPr lang="pl-PL" dirty="0">
                <a:solidFill>
                  <a:srgbClr val="FF0000"/>
                </a:solidFill>
              </a:rPr>
              <a:t>T</a:t>
            </a:r>
            <a:r>
              <a:rPr lang="pl-PL" dirty="0"/>
              <a:t>ype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 (</a:t>
            </a:r>
            <a:r>
              <a:rPr lang="pl-PL" dirty="0">
                <a:solidFill>
                  <a:srgbClr val="FF0000"/>
                </a:solidFill>
              </a:rPr>
              <a:t>TS</a:t>
            </a:r>
            <a:r>
              <a:rPr lang="pl-PL" dirty="0"/>
              <a:t>)?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46554FD-817B-CD1A-D3C1-EFA42E5D1FF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TypeScript</a:t>
            </a:r>
            <a:r>
              <a:rPr lang="pl-PL" dirty="0"/>
              <a:t> to "nadzbiór" JavaScriptu, opracowany przez Microsoft. Oznacza to, że </a:t>
            </a:r>
            <a:r>
              <a:rPr lang="pl-PL" b="1" dirty="0">
                <a:solidFill>
                  <a:srgbClr val="FF0000"/>
                </a:solidFill>
              </a:rPr>
              <a:t>każdy poprawny kod JavaScript jest poprawnym kodem TypeScript</a:t>
            </a:r>
            <a:r>
              <a:rPr lang="pl-PL" dirty="0"/>
              <a:t>, ale TS rozwija JS. Pozwala pisać kod JS w bardziej precyzyjny sposób.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Nadbudowuje JS - dodaje przede wszystkim (opcjonalny) statyczny system typów. Pozwala (i zachęca) na jawne deklarowanie typów zmiennych, argumentów funkcji i zwracanych wartości.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Kod TS musi zostać </a:t>
            </a:r>
            <a:r>
              <a:rPr lang="pl-PL" b="1" dirty="0">
                <a:solidFill>
                  <a:srgbClr val="FF0000"/>
                </a:solidFill>
              </a:rPr>
              <a:t>skompilowany</a:t>
            </a:r>
            <a:r>
              <a:rPr lang="pl-PL" dirty="0"/>
              <a:t> do czystego JS, zanim będzie mógł być uruchomiony przez przeglądarkę lub środowisko Node.js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7089CB-5CE6-6DFB-18A1-6D80488404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0621" y="4948874"/>
            <a:ext cx="8782608" cy="7442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1142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5">
            <a:extLst>
              <a:ext uri="{FF2B5EF4-FFF2-40B4-BE49-F238E27FC236}">
                <a16:creationId xmlns:a16="http://schemas.microsoft.com/office/drawing/2014/main" id="{8028D8D4-CD3E-6FC3-6418-DDC4ABCCA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>
                <a:solidFill>
                  <a:srgbClr val="FF0000"/>
                </a:solidFill>
              </a:rPr>
              <a:t>J</a:t>
            </a:r>
            <a:r>
              <a:rPr lang="pl-PL" dirty="0"/>
              <a:t>ava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 vs. </a:t>
            </a:r>
            <a:r>
              <a:rPr lang="pl-PL" dirty="0">
                <a:solidFill>
                  <a:srgbClr val="FF0000"/>
                </a:solidFill>
              </a:rPr>
              <a:t>T</a:t>
            </a:r>
            <a:r>
              <a:rPr lang="pl-PL" dirty="0"/>
              <a:t>ype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</a:t>
            </a:r>
            <a:endParaRPr lang="en-GB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278C608A-E990-4593-48D6-E9829FC05C3F}"/>
              </a:ext>
            </a:extLst>
          </p:cNvPr>
          <p:cNvGrpSpPr/>
          <p:nvPr/>
        </p:nvGrpSpPr>
        <p:grpSpPr>
          <a:xfrm>
            <a:off x="3703320" y="1249680"/>
            <a:ext cx="4785360" cy="4701540"/>
            <a:chOff x="3703320" y="1249680"/>
            <a:chExt cx="4785360" cy="4701540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80AF877F-B9AA-1EAD-5BEC-C5DCC421F1EA}"/>
                </a:ext>
              </a:extLst>
            </p:cNvPr>
            <p:cNvGrpSpPr/>
            <p:nvPr/>
          </p:nvGrpSpPr>
          <p:grpSpPr>
            <a:xfrm>
              <a:off x="3703320" y="1249680"/>
              <a:ext cx="4785360" cy="4701540"/>
              <a:chOff x="3703320" y="1249680"/>
              <a:chExt cx="4785360" cy="4701540"/>
            </a:xfrm>
          </p:grpSpPr>
          <p:sp>
            <p:nvSpPr>
              <p:cNvPr id="21" name="Oval 20">
                <a:extLst>
                  <a:ext uri="{FF2B5EF4-FFF2-40B4-BE49-F238E27FC236}">
                    <a16:creationId xmlns:a16="http://schemas.microsoft.com/office/drawing/2014/main" id="{3BB60E51-EB6B-C9A5-EBF5-DE1D563839DF}"/>
                  </a:ext>
                </a:extLst>
              </p:cNvPr>
              <p:cNvSpPr/>
              <p:nvPr/>
            </p:nvSpPr>
            <p:spPr>
              <a:xfrm>
                <a:off x="3703320" y="1249680"/>
                <a:ext cx="4785360" cy="4701540"/>
              </a:xfrm>
              <a:prstGeom prst="ellipse">
                <a:avLst/>
              </a:prstGeom>
              <a:solidFill>
                <a:srgbClr val="0070C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b="1"/>
              </a:p>
            </p:txBody>
          </p:sp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C04B60BA-E9D9-5131-652E-B94D16D7F30A}"/>
                  </a:ext>
                </a:extLst>
              </p:cNvPr>
              <p:cNvSpPr/>
              <p:nvPr/>
            </p:nvSpPr>
            <p:spPr>
              <a:xfrm>
                <a:off x="5524500" y="3124200"/>
                <a:ext cx="2423160" cy="2263140"/>
              </a:xfrm>
              <a:prstGeom prst="ellipse">
                <a:avLst/>
              </a:prstGeom>
              <a:solidFill>
                <a:srgbClr val="FFC00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400" b="1"/>
              </a:p>
            </p:txBody>
          </p: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E4400956-B39C-087E-856D-5351C48C96A3}"/>
                  </a:ext>
                </a:extLst>
              </p:cNvPr>
              <p:cNvSpPr txBox="1"/>
              <p:nvPr/>
            </p:nvSpPr>
            <p:spPr>
              <a:xfrm>
                <a:off x="4046220" y="2423160"/>
                <a:ext cx="330708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l-PL" sz="2400" b="1" dirty="0"/>
                  <a:t>TYPESCRIPT</a:t>
                </a:r>
                <a:endParaRPr lang="en-GB" sz="2400" b="1" dirty="0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8DDBFD10-277E-F90B-CF45-33142DFD479B}"/>
                </a:ext>
              </a:extLst>
            </p:cNvPr>
            <p:cNvSpPr txBox="1"/>
            <p:nvPr/>
          </p:nvSpPr>
          <p:spPr>
            <a:xfrm>
              <a:off x="5608320" y="3846641"/>
              <a:ext cx="1744980" cy="369332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pl-PL" sz="1800" b="1" dirty="0"/>
                <a:t>JAVASCRIPT</a:t>
              </a:r>
              <a:endParaRPr lang="en-GB" sz="1800" b="1" dirty="0"/>
            </a:p>
          </p:txBody>
        </p:sp>
      </p:grpSp>
    </p:spTree>
    <p:extLst>
      <p:ext uri="{BB962C8B-B14F-4D97-AF65-F5344CB8AC3E}">
        <p14:creationId xmlns:p14="http://schemas.microsoft.com/office/powerpoint/2010/main" val="30615567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9D285C-01F3-DA0F-D18C-209576FCF8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Główne różnice pomiędzy J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 a T</a:t>
            </a:r>
            <a:r>
              <a:rPr lang="pl-PL" dirty="0">
                <a:solidFill>
                  <a:srgbClr val="FF0000"/>
                </a:solidFill>
              </a:rPr>
              <a:t>S</a:t>
            </a:r>
            <a:endParaRPr lang="en-GB" dirty="0">
              <a:solidFill>
                <a:srgbClr val="FF0000"/>
              </a:solidFill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A76A720-03E4-0291-B7A4-9CF20C12EE3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1336848"/>
              </p:ext>
            </p:extLst>
          </p:nvPr>
        </p:nvGraphicFramePr>
        <p:xfrm>
          <a:off x="1271516" y="1528549"/>
          <a:ext cx="9930521" cy="4098727"/>
        </p:xfrm>
        <a:graphic>
          <a:graphicData uri="http://schemas.openxmlformats.org/drawingml/2006/table">
            <a:tbl>
              <a:tblPr firstRow="1">
                <a:tableStyleId>{9ACFF40F-6864-4E23-A38A-F3DD8219100D}</a:tableStyleId>
              </a:tblPr>
              <a:tblGrid>
                <a:gridCol w="1720850">
                  <a:extLst>
                    <a:ext uri="{9D8B030D-6E8A-4147-A177-3AD203B41FA5}">
                      <a16:colId xmlns:a16="http://schemas.microsoft.com/office/drawing/2014/main" val="60091860"/>
                    </a:ext>
                  </a:extLst>
                </a:gridCol>
                <a:gridCol w="3797091">
                  <a:extLst>
                    <a:ext uri="{9D8B030D-6E8A-4147-A177-3AD203B41FA5}">
                      <a16:colId xmlns:a16="http://schemas.microsoft.com/office/drawing/2014/main" val="1007263767"/>
                    </a:ext>
                  </a:extLst>
                </a:gridCol>
                <a:gridCol w="4412580">
                  <a:extLst>
                    <a:ext uri="{9D8B030D-6E8A-4147-A177-3AD203B41FA5}">
                      <a16:colId xmlns:a16="http://schemas.microsoft.com/office/drawing/2014/main" val="2492396222"/>
                    </a:ext>
                  </a:extLst>
                </a:gridCol>
              </a:tblGrid>
              <a:tr h="578695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endParaRPr lang="en-GB" sz="2800" b="1" dirty="0">
                        <a:solidFill>
                          <a:schemeClr val="tx1"/>
                        </a:solidFill>
                        <a:effectLst/>
                      </a:endParaRP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800" b="1" dirty="0">
                          <a:solidFill>
                            <a:schemeClr val="tx1"/>
                          </a:solidFill>
                          <a:effectLst/>
                        </a:rPr>
                        <a:t>JavaScript (JS)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800" b="1" dirty="0">
                          <a:solidFill>
                            <a:schemeClr val="tx1"/>
                          </a:solidFill>
                          <a:effectLst/>
                        </a:rPr>
                        <a:t>TypeScript (TS)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27857821"/>
                  </a:ext>
                </a:extLst>
              </a:tr>
              <a:tr h="410524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 dirty="0" err="1">
                          <a:effectLst/>
                        </a:rPr>
                        <a:t>Typowanie</a:t>
                      </a:r>
                      <a:endParaRPr lang="en-GB" sz="2000" b="1" dirty="0">
                        <a:effectLst/>
                      </a:endParaRP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 err="1">
                          <a:effectLst/>
                        </a:rPr>
                        <a:t>Dynamiczne</a:t>
                      </a:r>
                      <a:endParaRPr lang="en-GB" sz="2000" dirty="0">
                        <a:effectLst/>
                      </a:endParaRP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 err="1">
                          <a:effectLst/>
                        </a:rPr>
                        <a:t>Statyczne</a:t>
                      </a:r>
                      <a:endParaRPr lang="en-GB" sz="2000" dirty="0">
                        <a:effectLst/>
                      </a:endParaRP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2229600192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>
                          <a:effectLst/>
                        </a:rPr>
                        <a:t>Błędy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Wychwytywane głównie w czasie działania (runtime)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>
                          <a:effectLst/>
                        </a:rPr>
                        <a:t>Wychwytywane w czasie kompilacji/pisania kodu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1476809984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>
                          <a:effectLst/>
                        </a:rPr>
                        <a:t>Kod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 err="1">
                          <a:effectLst/>
                        </a:rPr>
                        <a:t>Wykonywany</a:t>
                      </a:r>
                      <a:r>
                        <a:rPr lang="en-GB" sz="2000" dirty="0">
                          <a:effectLst/>
                        </a:rPr>
                        <a:t> </a:t>
                      </a:r>
                      <a:r>
                        <a:rPr lang="en-GB" sz="2000" dirty="0" err="1">
                          <a:effectLst/>
                        </a:rPr>
                        <a:t>bezpośrednio</a:t>
                      </a:r>
                      <a:r>
                        <a:rPr lang="en-GB" sz="2000" dirty="0">
                          <a:effectLst/>
                        </a:rPr>
                        <a:t> (</a:t>
                      </a:r>
                      <a:r>
                        <a:rPr lang="en-GB" sz="2000" dirty="0" err="1">
                          <a:effectLst/>
                        </a:rPr>
                        <a:t>interpretowany</a:t>
                      </a:r>
                      <a:r>
                        <a:rPr lang="en-GB" sz="2000" dirty="0">
                          <a:effectLst/>
                        </a:rPr>
                        <a:t>)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Wymaga kompilacji do JS przed wykonaniem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3189477647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>
                          <a:effectLst/>
                        </a:rPr>
                        <a:t>Złożoność Projektu</a:t>
                      </a: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dirty="0">
                          <a:effectLst/>
                        </a:rPr>
                        <a:t>Lepszy dla małych projektów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Idealny dla dużych, złożonych projektów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3289781110"/>
                  </a:ext>
                </a:extLst>
              </a:tr>
              <a:tr h="777377"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en-GB" sz="2000" b="1" dirty="0" err="1">
                          <a:effectLst/>
                        </a:rPr>
                        <a:t>Narzędzia</a:t>
                      </a:r>
                      <a:endParaRPr lang="en-GB" sz="2000" b="1" dirty="0">
                        <a:effectLst/>
                      </a:endParaRPr>
                    </a:p>
                  </a:txBody>
                  <a:tcPr marL="19050" marR="19050" marT="12700" marB="12700" anchor="ctr"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>
                          <a:effectLst/>
                        </a:rPr>
                        <a:t>Mniej zaawansowane autouzupełnianie w edytorach</a:t>
                      </a:r>
                    </a:p>
                  </a:txBody>
                  <a:tcPr marL="19050" marR="19050" marT="12700" marB="12700" anchor="ctr"/>
                </a:tc>
                <a:tc>
                  <a:txBody>
                    <a:bodyPr/>
                    <a:lstStyle/>
                    <a:p>
                      <a:pPr algn="ctr" rtl="0" fontAlgn="b">
                        <a:buNone/>
                      </a:pPr>
                      <a:r>
                        <a:rPr lang="pl-PL" sz="2000" dirty="0">
                          <a:effectLst/>
                        </a:rPr>
                        <a:t>Doskonałe wsparcie IDE, autouzupełnianie, refaktoryzacja</a:t>
                      </a:r>
                    </a:p>
                  </a:txBody>
                  <a:tcPr marL="19050" marR="19050" marT="12700" marB="12700" anchor="ctr"/>
                </a:tc>
                <a:extLst>
                  <a:ext uri="{0D108BD9-81ED-4DB2-BD59-A6C34878D82A}">
                    <a16:rowId xmlns:a16="http://schemas.microsoft.com/office/drawing/2014/main" val="5493491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78229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8B8E96-79F7-A4D6-2BF9-A9E55C88E0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Dlaczego warto uczyć się </a:t>
            </a:r>
            <a:r>
              <a:rPr lang="pl-PL" dirty="0">
                <a:solidFill>
                  <a:srgbClr val="FF0000"/>
                </a:solidFill>
              </a:rPr>
              <a:t>T</a:t>
            </a:r>
            <a:r>
              <a:rPr lang="pl-PL" dirty="0"/>
              <a:t>ype</a:t>
            </a:r>
            <a:r>
              <a:rPr lang="pl-PL" dirty="0">
                <a:solidFill>
                  <a:srgbClr val="FF0000"/>
                </a:solidFill>
              </a:rPr>
              <a:t>S</a:t>
            </a:r>
            <a:r>
              <a:rPr lang="pl-PL" dirty="0"/>
              <a:t>cript w kontekście testów automatycznych?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6F5-397A-2C8F-DE1E-6E1C2CF57B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514220"/>
            <a:ext cx="11566500" cy="4538100"/>
          </a:xfrm>
        </p:spPr>
        <p:txBody>
          <a:bodyPr>
            <a:normAutofit fontScale="92500" lnSpcReduction="10000"/>
          </a:bodyPr>
          <a:lstStyle/>
          <a:p>
            <a:pPr marL="101600" indent="0">
              <a:buNone/>
            </a:pPr>
            <a:r>
              <a:rPr lang="pl-PL" b="1" dirty="0"/>
              <a:t>Early bug detection </a:t>
            </a:r>
            <a:r>
              <a:rPr lang="pl-PL" dirty="0"/>
              <a:t>- mniej niepowodzeń spowodowanych błędami w kodzie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/>
              <a:t>Lepsza czytelność i utrzymanie </a:t>
            </a:r>
            <a:r>
              <a:rPr lang="pl-PL" dirty="0"/>
              <a:t>– jawne typy działają jak dokumentacja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/>
              <a:t>Wsparcie IDE </a:t>
            </a:r>
            <a:r>
              <a:rPr lang="pl-PL" dirty="0"/>
              <a:t>– statyczne typowanie pozwala edytorom (takim jak VSCode) na dostarczanie inteligentnego autouzupełniania i podpowiedzi o błędach.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/>
              <a:t>Standaryzacja w frameworkach </a:t>
            </a:r>
            <a:r>
              <a:rPr lang="pl-PL" dirty="0"/>
              <a:t>– większość nowoczesnych frameworków do testowania automatycznego (np. Cypress, PlayWright) jest w pełni zoptymalizowanych pod kątem TypeScript</a:t>
            </a:r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92C697-93D9-7A0B-E5AA-0A7AA2B93D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7363" y="3002279"/>
            <a:ext cx="7697274" cy="9621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476536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694E829-DC2A-E620-21D5-D28A6816FA9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144738"/>
            <a:ext cx="12192000" cy="2099716"/>
          </a:xfrm>
        </p:spPr>
        <p:txBody>
          <a:bodyPr/>
          <a:lstStyle/>
          <a:p>
            <a:r>
              <a:rPr lang="pl-PL" dirty="0"/>
              <a:t>Co jest potrzebne do pracy z TypeScript?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528255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623B429-E610-DBF8-8AB6-C619DD8856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Środowisko uruchomieniowe – </a:t>
            </a:r>
            <a:r>
              <a:rPr lang="pl-PL" dirty="0">
                <a:solidFill>
                  <a:srgbClr val="FF0000"/>
                </a:solidFill>
              </a:rPr>
              <a:t>Node.JS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8FC1437-80BA-3894-A8F3-C168C9584E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Jest to środowisko uruchomieniowe JavaScript po stronie serwera, które pozwala wykonywać kod JS (i TS) poza przeglądarką. 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Wszystkie nowoczesne frameworki testowe (np. Playwright, Cypress, Jest) działają w oparciu o Node.JS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Instalacja Node.JS automatycznie instaluje menadżera pakietów </a:t>
            </a:r>
            <a:r>
              <a:rPr lang="pl-PL" dirty="0">
                <a:solidFill>
                  <a:srgbClr val="FF0000"/>
                </a:solidFill>
              </a:rPr>
              <a:t>npm (Node Package Manager)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tx1"/>
                </a:solidFill>
              </a:rPr>
              <a:t>Link do instalacji oraz instrukcji:</a:t>
            </a:r>
          </a:p>
          <a:p>
            <a:pPr marL="101600" indent="0">
              <a:buNone/>
            </a:pPr>
            <a:r>
              <a:rPr lang="en-GB" u="sng" dirty="0">
                <a:solidFill>
                  <a:srgbClr val="FF0000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https://nodejs.org/en/download</a:t>
            </a:r>
            <a:endParaRPr lang="en-GB" u="sng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490383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EE62E-867D-7D35-15F5-B7EDFD4766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Menadżer pakietów – </a:t>
            </a:r>
            <a:r>
              <a:rPr lang="pl-PL" dirty="0">
                <a:solidFill>
                  <a:srgbClr val="FF0000"/>
                </a:solidFill>
              </a:rPr>
              <a:t>npm</a:t>
            </a:r>
            <a:r>
              <a:rPr lang="pl-PL" dirty="0"/>
              <a:t> 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056760E-C8A1-0D22-C8FD-E20BF66B33A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608389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Do zarządzania zależnościami (czyli frameworkami testowymi, bibliotekami, kompilatorem TS) używamy menedżera pakietów. Najczęściej jest to </a:t>
            </a:r>
            <a:r>
              <a:rPr lang="pl-PL" b="1" dirty="0">
                <a:solidFill>
                  <a:srgbClr val="FF0000"/>
                </a:solidFill>
              </a:rPr>
              <a:t>npm</a:t>
            </a:r>
            <a:r>
              <a:rPr lang="pl-PL" dirty="0"/>
              <a:t>, który jest domyślnie instalowany z Node.js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Służy do instalowania, aktualizowania i usuwania pakietów (bibliotek) potrzebnych w projekcie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2D299AD-8314-F4DB-9FFD-E9A4BD402E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0559" y="4307097"/>
            <a:ext cx="10133116" cy="9567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28571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C9D2D8-DDF1-26E8-2D6D-24236C9C5A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Kompilator TypeScript - </a:t>
            </a:r>
            <a:r>
              <a:rPr lang="pl-PL" dirty="0">
                <a:solidFill>
                  <a:srgbClr val="FF0000"/>
                </a:solidFill>
              </a:rPr>
              <a:t>tsc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8F49FA-661E-71B9-C675-139DFD720B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Ponieważ maszyny nie rozumieją kodu TS, potrzebujemy narzędzia, które przetłumaczy go na czysty JavaScript. Służy do tego </a:t>
            </a:r>
            <a:r>
              <a:rPr lang="pl-PL" b="1" dirty="0">
                <a:solidFill>
                  <a:srgbClr val="FF0000"/>
                </a:solidFill>
              </a:rPr>
              <a:t>kompilator TypeScript (tsc)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/>
              <a:t>Czyta pliki z rozszerzeniem </a:t>
            </a:r>
            <a:r>
              <a:rPr lang="pl-PL" dirty="0">
                <a:solidFill>
                  <a:srgbClr val="FF0000"/>
                </a:solidFill>
              </a:rPr>
              <a:t>.ts </a:t>
            </a:r>
            <a:r>
              <a:rPr lang="pl-PL" dirty="0"/>
              <a:t>i generuje odpowiadające im pliki </a:t>
            </a:r>
            <a:r>
              <a:rPr lang="pl-PL" dirty="0">
                <a:solidFill>
                  <a:srgbClr val="FF0000"/>
                </a:solidFill>
              </a:rPr>
              <a:t>.js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Działanie kompilatora jest sterowane przez plik konfiguracyjny o nazwie </a:t>
            </a:r>
            <a:r>
              <a:rPr lang="pl-PL" b="1" dirty="0">
                <a:solidFill>
                  <a:srgbClr val="FF0000"/>
                </a:solidFill>
              </a:rPr>
              <a:t>tsconfig.json</a:t>
            </a:r>
            <a:r>
              <a:rPr lang="pl-PL" dirty="0"/>
              <a:t>. W tym pliku określasz, jaką wersję JavaScriptu ma wygenerować kompilator, gdzie mają być pliki źródłowe, a gdzie wynikowe, i jakie mają być zasady typowania. 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tx1"/>
                </a:solidFill>
              </a:rPr>
              <a:t>Instalacja jako pakiet npm:</a:t>
            </a:r>
            <a:br>
              <a:rPr lang="pl-PL" dirty="0">
                <a:solidFill>
                  <a:schemeClr val="tx1"/>
                </a:solidFill>
              </a:rPr>
            </a:br>
            <a:endParaRPr lang="en-GB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1ECCEF3-863D-7F5C-03CF-E1DA87FD07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2483" y="5009970"/>
            <a:ext cx="6142115" cy="4054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5464939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2"/>
    </p:ext>
  </p:extLs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38B687-C31D-E6CC-C23E-A37BEA18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Edytor kodu (</a:t>
            </a:r>
            <a:r>
              <a:rPr lang="pl-PL" dirty="0">
                <a:solidFill>
                  <a:srgbClr val="FF0000"/>
                </a:solidFill>
              </a:rPr>
              <a:t>IDE</a:t>
            </a:r>
            <a:r>
              <a:rPr lang="pl-PL" dirty="0"/>
              <a:t>)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DDD9F0-D9BD-A0A0-9BAE-530A6688642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849272"/>
            <a:ext cx="11566500" cy="3928728"/>
          </a:xfrm>
        </p:spPr>
        <p:txBody>
          <a:bodyPr>
            <a:normAutofit fontScale="92500" lnSpcReduction="10000"/>
          </a:bodyPr>
          <a:lstStyle/>
          <a:p>
            <a:pPr marL="101600" indent="0">
              <a:buNone/>
            </a:pPr>
            <a:r>
              <a:rPr lang="pl-PL" dirty="0"/>
              <a:t>Rekomendacja – </a:t>
            </a:r>
            <a:r>
              <a:rPr lang="pl-PL" b="1" dirty="0">
                <a:solidFill>
                  <a:srgbClr val="FF0000"/>
                </a:solidFill>
              </a:rPr>
              <a:t>Visual Studio Code</a:t>
            </a:r>
            <a:r>
              <a:rPr lang="pl-PL" dirty="0"/>
              <a:t>. 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VS Code </a:t>
            </a:r>
            <a:r>
              <a:rPr lang="pl-PL" dirty="0"/>
              <a:t>został stworzony przez Microsoft (tego samego twórcę co TS) i oferuje natywne, najlepsze w swojej klasie wsparcie dla TypeScript: </a:t>
            </a:r>
          </a:p>
          <a:p>
            <a:pPr marL="101600" indent="0">
              <a:buNone/>
            </a:pPr>
            <a:r>
              <a:rPr lang="pl-PL" dirty="0"/>
              <a:t>	- </a:t>
            </a:r>
            <a:r>
              <a:rPr lang="pl-PL" b="1" dirty="0">
                <a:solidFill>
                  <a:srgbClr val="FF0000"/>
                </a:solidFill>
              </a:rPr>
              <a:t>IntelliSense </a:t>
            </a:r>
            <a:r>
              <a:rPr lang="pl-PL" b="1" dirty="0">
                <a:solidFill>
                  <a:schemeClr val="bg2"/>
                </a:solidFill>
              </a:rPr>
              <a:t>– </a:t>
            </a:r>
            <a:r>
              <a:rPr lang="pl-PL" dirty="0">
                <a:solidFill>
                  <a:schemeClr val="bg2"/>
                </a:solidFill>
              </a:rPr>
              <a:t>inteligentne podpowiedzi, autouzupełnianie i natychmiastowe 		   wskazywanie błędów typowania</a:t>
            </a: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	- </a:t>
            </a:r>
            <a:r>
              <a:rPr lang="pl-PL" b="1" dirty="0">
                <a:solidFill>
                  <a:srgbClr val="FF0000"/>
                </a:solidFill>
              </a:rPr>
              <a:t>Refaktoryzacja </a:t>
            </a:r>
            <a:r>
              <a:rPr lang="pl-PL" b="1" dirty="0">
                <a:solidFill>
                  <a:schemeClr val="bg2"/>
                </a:solidFill>
              </a:rPr>
              <a:t>-</a:t>
            </a:r>
            <a:r>
              <a:rPr lang="pl-PL" b="1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łatwe i bezpieczne </a:t>
            </a:r>
            <a:r>
              <a:rPr lang="pl-PL" dirty="0"/>
              <a:t>zmiany nazw, które są aktualizowane w całym 	   	   projekcie dzięki informacjom o typach.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Link do instalacji:</a:t>
            </a:r>
          </a:p>
          <a:p>
            <a:pPr marL="101600" indent="0">
              <a:buNone/>
            </a:pPr>
            <a:r>
              <a:rPr lang="pl-PL" dirty="0">
                <a:hlinkClick r:id="rId2"/>
              </a:rPr>
              <a:t>https://code.visualstudio.com/Download</a:t>
            </a:r>
            <a:br>
              <a:rPr lang="pl-PL" dirty="0"/>
            </a:b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6370487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8AFD8F9-DB24-D59D-CB63-261EFEDC2C5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072786"/>
            <a:ext cx="12192000" cy="828600"/>
          </a:xfrm>
        </p:spPr>
        <p:txBody>
          <a:bodyPr/>
          <a:lstStyle/>
          <a:p>
            <a:r>
              <a:rPr lang="pl-PL" dirty="0"/>
              <a:t>Zmienne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0758172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CE0F0C7-03B2-3F47-060C-BE85D81F59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Syntax tworzenia zmiennych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43D4B04-9E26-BF95-18F2-06E1200BAD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5500" y="1239900"/>
            <a:ext cx="11566500" cy="4538100"/>
          </a:xfrm>
        </p:spPr>
        <p:txBody>
          <a:bodyPr/>
          <a:lstStyle/>
          <a:p>
            <a:pPr marL="101600" indent="0">
              <a:buNone/>
            </a:pPr>
            <a:endParaRPr lang="pl-PL" dirty="0">
              <a:solidFill>
                <a:schemeClr val="accent2"/>
              </a:solidFill>
            </a:endParaRPr>
          </a:p>
          <a:p>
            <a:pPr marL="101600" indent="0">
              <a:buNone/>
            </a:pPr>
            <a:endParaRPr lang="pl-PL" b="1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b="1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Typowanie jawne:</a:t>
            </a:r>
          </a:p>
          <a:p>
            <a:pPr marL="101600" indent="0">
              <a:buNone/>
            </a:pPr>
            <a:r>
              <a:rPr lang="pl-PL" dirty="0">
                <a:solidFill>
                  <a:schemeClr val="accent2"/>
                </a:solidFill>
              </a:rPr>
              <a:t>&lt;słowo kluczowe&gt; </a:t>
            </a:r>
            <a:r>
              <a:rPr lang="pl-PL" dirty="0">
                <a:solidFill>
                  <a:schemeClr val="accent1"/>
                </a:solidFill>
              </a:rPr>
              <a:t>&lt;nazwa zmiennej&gt; </a:t>
            </a:r>
            <a:r>
              <a:rPr lang="pl-PL" b="1" dirty="0"/>
              <a:t>: </a:t>
            </a:r>
            <a:r>
              <a:rPr lang="pl-PL" dirty="0">
                <a:solidFill>
                  <a:schemeClr val="accent3">
                    <a:lumMod val="50000"/>
                  </a:schemeClr>
                </a:solidFill>
              </a:rPr>
              <a:t>&lt;typ zmiennej&gt; </a:t>
            </a:r>
            <a:r>
              <a:rPr lang="pl-PL" b="1" dirty="0"/>
              <a:t>=</a:t>
            </a:r>
            <a:r>
              <a:rPr lang="pl-PL" dirty="0"/>
              <a:t> </a:t>
            </a:r>
            <a:r>
              <a:rPr lang="pl-PL" dirty="0">
                <a:solidFill>
                  <a:schemeClr val="accent5">
                    <a:lumMod val="50000"/>
                  </a:schemeClr>
                </a:solidFill>
              </a:rPr>
              <a:t>&lt;wartość&gt;</a:t>
            </a:r>
          </a:p>
          <a:p>
            <a:pPr marL="101600" indent="0">
              <a:buNone/>
            </a:pPr>
            <a:endParaRPr lang="pl-PL" dirty="0">
              <a:solidFill>
                <a:schemeClr val="accent5">
                  <a:lumMod val="50000"/>
                </a:schemeClr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Wnioskowanie o typach:</a:t>
            </a:r>
          </a:p>
          <a:p>
            <a:pPr marL="101600" indent="0">
              <a:buNone/>
            </a:pPr>
            <a:r>
              <a:rPr lang="pl-PL" dirty="0">
                <a:solidFill>
                  <a:schemeClr val="accent2"/>
                </a:solidFill>
              </a:rPr>
              <a:t>&lt;słowo kluczowe&gt; </a:t>
            </a:r>
            <a:r>
              <a:rPr lang="pl-PL" dirty="0">
                <a:solidFill>
                  <a:schemeClr val="accent1"/>
                </a:solidFill>
              </a:rPr>
              <a:t>&lt;nazwa zmiennej&gt; </a:t>
            </a:r>
            <a:r>
              <a:rPr lang="pl-PL" dirty="0">
                <a:solidFill>
                  <a:schemeClr val="bg2"/>
                </a:solidFill>
              </a:rPr>
              <a:t>=</a:t>
            </a:r>
            <a:r>
              <a:rPr lang="pl-PL" dirty="0">
                <a:solidFill>
                  <a:schemeClr val="accent1"/>
                </a:solidFill>
              </a:rPr>
              <a:t> </a:t>
            </a:r>
            <a:r>
              <a:rPr lang="pl-PL" dirty="0">
                <a:solidFill>
                  <a:schemeClr val="accent5">
                    <a:lumMod val="50000"/>
                  </a:schemeClr>
                </a:solidFill>
              </a:rPr>
              <a:t>&lt;wartość&gt;</a:t>
            </a:r>
          </a:p>
          <a:p>
            <a:pPr marL="101600" indent="0">
              <a:buNone/>
            </a:pPr>
            <a:endParaRPr lang="pl-PL" b="1" dirty="0">
              <a:solidFill>
                <a:schemeClr val="accent5">
                  <a:lumMod val="50000"/>
                </a:schemeClr>
              </a:solidFill>
            </a:endParaRPr>
          </a:p>
          <a:p>
            <a:pPr marL="101600" indent="0">
              <a:buNone/>
            </a:pPr>
            <a:endParaRPr lang="pl-PL" b="1" dirty="0">
              <a:solidFill>
                <a:schemeClr val="accent5">
                  <a:lumMod val="50000"/>
                </a:schemeClr>
              </a:solidFill>
            </a:endParaRPr>
          </a:p>
          <a:p>
            <a:pPr marL="101600" indent="0">
              <a:buNone/>
            </a:pPr>
            <a:endParaRPr lang="en-GB" b="1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5A04F689-B01B-CCB5-0AD4-221A7A324D75}"/>
              </a:ext>
            </a:extLst>
          </p:cNvPr>
          <p:cNvSpPr txBox="1"/>
          <p:nvPr/>
        </p:nvSpPr>
        <p:spPr>
          <a:xfrm>
            <a:off x="850392" y="5778000"/>
            <a:ext cx="84490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dirty="0"/>
              <a:t>Najpopularniejsze, prymitywne typy zmiennych: number, string, boolean 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212456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E8B7F92-947E-3506-7A36-FB9BDBCF7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Zmienne – let, const i </a:t>
            </a:r>
            <a:r>
              <a:rPr lang="pl-PL" dirty="0">
                <a:solidFill>
                  <a:srgbClr val="FF0000"/>
                </a:solidFill>
              </a:rPr>
              <a:t>var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4290CA9-E710-F78E-023B-7579B35269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Zmienne to nazwane miejsca w pamięci, które przechowują wartości. W TypeScript (i nowoczesnym JS) do deklarowania zmiennych używamy trzech słów kluczowych.</a:t>
            </a:r>
            <a:endParaRPr lang="en-GB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669FF926-4D8A-F9AB-38AC-587E41D7DBF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764316"/>
              </p:ext>
            </p:extLst>
          </p:nvPr>
        </p:nvGraphicFramePr>
        <p:xfrm>
          <a:off x="1090682" y="2187580"/>
          <a:ext cx="10010636" cy="3866175"/>
        </p:xfrm>
        <a:graphic>
          <a:graphicData uri="http://schemas.openxmlformats.org/drawingml/2006/table">
            <a:tbl>
              <a:tblPr/>
              <a:tblGrid>
                <a:gridCol w="1910688">
                  <a:extLst>
                    <a:ext uri="{9D8B030D-6E8A-4147-A177-3AD203B41FA5}">
                      <a16:colId xmlns:a16="http://schemas.microsoft.com/office/drawing/2014/main" val="344881572"/>
                    </a:ext>
                  </a:extLst>
                </a:gridCol>
                <a:gridCol w="2067636">
                  <a:extLst>
                    <a:ext uri="{9D8B030D-6E8A-4147-A177-3AD203B41FA5}">
                      <a16:colId xmlns:a16="http://schemas.microsoft.com/office/drawing/2014/main" val="658352492"/>
                    </a:ext>
                  </a:extLst>
                </a:gridCol>
                <a:gridCol w="2089245">
                  <a:extLst>
                    <a:ext uri="{9D8B030D-6E8A-4147-A177-3AD203B41FA5}">
                      <a16:colId xmlns:a16="http://schemas.microsoft.com/office/drawing/2014/main" val="1477208633"/>
                    </a:ext>
                  </a:extLst>
                </a:gridCol>
                <a:gridCol w="3943067">
                  <a:extLst>
                    <a:ext uri="{9D8B030D-6E8A-4147-A177-3AD203B41FA5}">
                      <a16:colId xmlns:a16="http://schemas.microsoft.com/office/drawing/2014/main" val="4010276040"/>
                    </a:ext>
                  </a:extLst>
                </a:gridCol>
              </a:tblGrid>
              <a:tr h="484496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Słowo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Kluczowe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Zakres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(Scope)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Możliwość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Zmiany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Kiedy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 </a:t>
                      </a: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u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żywać</a:t>
                      </a: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?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1298922"/>
                  </a:ext>
                </a:extLst>
              </a:tr>
              <a:tr h="982639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const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Blokowy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Nie (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stała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)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pl-PL" sz="1600" b="1" i="0" u="none" strike="noStrike" cap="none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ZAWSZE, gdy wartość nie ma się zmienić (najbezpieczniejsze).</a:t>
                      </a:r>
                    </a:p>
                  </a:txBody>
                  <a:tcPr marL="0" marR="0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C6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38625939"/>
                  </a:ext>
                </a:extLst>
              </a:tr>
              <a:tr h="1238089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let</a:t>
                      </a: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Blokowy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Tak (</a:t>
                      </a: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zmienna</a:t>
                      </a: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)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Kiedy wartość musi zostać zmieniona w dalszej części kodu (np. liczniki w pętlach).</a:t>
                      </a:r>
                    </a:p>
                  </a:txBody>
                  <a:tcPr marL="0" marR="0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30D0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4414802"/>
                  </a:ext>
                </a:extLst>
              </a:tr>
              <a:tr h="1160951"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var</a:t>
                      </a:r>
                    </a:p>
                  </a:txBody>
                  <a:tcPr marL="9147" marR="9147" marT="6098" marB="6098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Funkcyjny</a:t>
                      </a:r>
                      <a:endParaRPr lang="en-GB" sz="1600" b="1" i="0" u="none" strike="noStrike" cap="none" dirty="0">
                        <a:solidFill>
                          <a:schemeClr val="tx1"/>
                        </a:solidFill>
                        <a:effectLst/>
                        <a:latin typeface="Arial"/>
                        <a:cs typeface="Arial"/>
                        <a:sym typeface="Arial"/>
                      </a:endParaRP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en-GB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Tak</a:t>
                      </a:r>
                    </a:p>
                  </a:txBody>
                  <a:tcPr marL="9147" marR="9147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R="0" algn="ctr" rtl="0" fontAlgn="b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  <a:buNone/>
                      </a:pPr>
                      <a:r>
                        <a:rPr lang="pl-PL" sz="1600" b="1" i="0" u="none" strike="noStrike" cap="none" dirty="0">
                          <a:solidFill>
                            <a:schemeClr val="tx1"/>
                          </a:solidFill>
                          <a:effectLst/>
                          <a:latin typeface="Arial"/>
                          <a:cs typeface="Arial"/>
                          <a:sym typeface="Arial"/>
                        </a:rPr>
                        <a:t>Raczej unikać w nowym kodzie (starszy standard JS, powoduje problemy z zakresem).</a:t>
                      </a:r>
                    </a:p>
                  </a:txBody>
                  <a:tcPr marL="0" marR="0" marT="6098" marB="6098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F0D0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F0D01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473284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23557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7E4B05-8D53-28F7-F751-6C06DC7BC6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Zasady nazywania zmiennych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67C686-8E96-EA41-04E9-B1E213CD3A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Dobre nazwy zmiennych są kluczowe dla czytelności kodu testowego.</a:t>
            </a:r>
          </a:p>
          <a:p>
            <a:r>
              <a:rPr lang="pl-PL" b="1" dirty="0"/>
              <a:t>Mogą zawierać:</a:t>
            </a:r>
            <a:r>
              <a:rPr lang="pl-PL" dirty="0"/>
              <a:t> litery, cyfry, znaki dolara ($) i podkreślenia (_).</a:t>
            </a:r>
          </a:p>
          <a:p>
            <a:r>
              <a:rPr lang="pl-PL" b="1" dirty="0"/>
              <a:t>Nie mogą </a:t>
            </a:r>
            <a:r>
              <a:rPr lang="pl-PL" dirty="0"/>
              <a:t>zaczynać się od cyfry.</a:t>
            </a:r>
          </a:p>
          <a:p>
            <a:r>
              <a:rPr lang="pl-PL" b="1" dirty="0"/>
              <a:t>Nie mogą być</a:t>
            </a:r>
            <a:r>
              <a:rPr lang="pl-PL" dirty="0"/>
              <a:t> słowami kluczowymi języka (np. if, for, let, const).</a:t>
            </a:r>
          </a:p>
          <a:p>
            <a:r>
              <a:rPr lang="pl-PL" b="1" dirty="0"/>
              <a:t>Konwencja:</a:t>
            </a:r>
            <a:r>
              <a:rPr lang="pl-PL" dirty="0"/>
              <a:t> Zazwyczaj stosujemy </a:t>
            </a:r>
            <a:r>
              <a:rPr lang="pl-PL" b="1" dirty="0"/>
              <a:t>camelCase</a:t>
            </a:r>
            <a:r>
              <a:rPr lang="pl-PL" dirty="0"/>
              <a:t> (np. userLogin, testResult). Dla stałych, które nie zmieniają się w ogóle, często używa się </a:t>
            </a:r>
            <a:r>
              <a:rPr lang="pl-PL" b="1" dirty="0"/>
              <a:t>wielkich liter z podkreśleniami</a:t>
            </a:r>
            <a:r>
              <a:rPr lang="pl-PL" dirty="0"/>
              <a:t> (np. BASE_URL).</a:t>
            </a:r>
          </a:p>
          <a:p>
            <a:r>
              <a:rPr lang="pl-PL" b="1" dirty="0"/>
              <a:t>Długość i Opisowość:</a:t>
            </a:r>
            <a:r>
              <a:rPr lang="pl-PL" dirty="0"/>
              <a:t> Nazwa powinna być na tyle długa, by była </a:t>
            </a:r>
            <a:r>
              <a:rPr lang="pl-PL" b="1" dirty="0"/>
              <a:t>opisowa</a:t>
            </a:r>
            <a:r>
              <a:rPr lang="pl-PL" dirty="0"/>
              <a:t>, ale nie za długa. Np. zamiast </a:t>
            </a:r>
            <a:r>
              <a:rPr lang="pl-PL" b="1" dirty="0"/>
              <a:t>theNumberOfTimesWeAttemptedToLogin</a:t>
            </a:r>
            <a:r>
              <a:rPr lang="pl-PL" dirty="0"/>
              <a:t> użyj </a:t>
            </a:r>
            <a:r>
              <a:rPr lang="pl-PL" b="1" dirty="0"/>
              <a:t>loginAttemptsCount</a:t>
            </a:r>
            <a:r>
              <a:rPr lang="pl-PL" dirty="0"/>
              <a:t>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594247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0AE87A-AD41-9290-2A53-56AB81B38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Co tutaj jest nie tak?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444096C-59D8-A622-5A3C-9E7B83DE42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Popatrz na poniższy kod. Gdzie widzisz błędy? Gdzie widzisz miejsca które można poprawić?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06FDE3-87D7-24B4-34DF-9348A60E11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8842" y="2227173"/>
            <a:ext cx="6154435" cy="4015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27004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9A8182-E750-FA1A-8CCA-EEA5271FFA1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Typy danych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4174686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A70F26-CEE9-636A-F158-E73FBA9DEE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Typy </a:t>
            </a:r>
            <a:r>
              <a:rPr lang="pl-PL" dirty="0">
                <a:solidFill>
                  <a:srgbClr val="FF0000"/>
                </a:solidFill>
              </a:rPr>
              <a:t>prymitywne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948DE09-8A07-7AF9-9C6F-446B3BCDF1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To </a:t>
            </a:r>
            <a:r>
              <a:rPr lang="pl-PL" b="1" dirty="0"/>
              <a:t>najprostsze, niepodzielne wartości</a:t>
            </a:r>
            <a:r>
              <a:rPr lang="pl-PL" dirty="0"/>
              <a:t>. Są </a:t>
            </a:r>
            <a:r>
              <a:rPr lang="pl-PL" i="1" dirty="0"/>
              <a:t>niemutowalne</a:t>
            </a:r>
            <a:r>
              <a:rPr lang="pl-PL" dirty="0"/>
              <a:t> i przechowywane bezpośrednio jako wartość, a nie przez referencję.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Istnieją także typy: </a:t>
            </a:r>
            <a:r>
              <a:rPr lang="pl-PL" b="1" dirty="0"/>
              <a:t>void</a:t>
            </a:r>
            <a:r>
              <a:rPr lang="pl-PL" dirty="0"/>
              <a:t>, </a:t>
            </a:r>
            <a:r>
              <a:rPr lang="pl-PL" b="1" dirty="0"/>
              <a:t>never oraz any.</a:t>
            </a:r>
            <a:endParaRPr lang="pl-PL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6E5BD6F-94DD-C0C1-6224-E6121093FF1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1698059"/>
              </p:ext>
            </p:extLst>
          </p:nvPr>
        </p:nvGraphicFramePr>
        <p:xfrm>
          <a:off x="1902156" y="2377440"/>
          <a:ext cx="8387687" cy="2316480"/>
        </p:xfrm>
        <a:graphic>
          <a:graphicData uri="http://schemas.openxmlformats.org/drawingml/2006/table">
            <a:tbl>
              <a:tblPr/>
              <a:tblGrid>
                <a:gridCol w="1089511">
                  <a:extLst>
                    <a:ext uri="{9D8B030D-6E8A-4147-A177-3AD203B41FA5}">
                      <a16:colId xmlns:a16="http://schemas.microsoft.com/office/drawing/2014/main" val="4062904138"/>
                    </a:ext>
                  </a:extLst>
                </a:gridCol>
                <a:gridCol w="3989731">
                  <a:extLst>
                    <a:ext uri="{9D8B030D-6E8A-4147-A177-3AD203B41FA5}">
                      <a16:colId xmlns:a16="http://schemas.microsoft.com/office/drawing/2014/main" val="3080006587"/>
                    </a:ext>
                  </a:extLst>
                </a:gridCol>
                <a:gridCol w="3308445">
                  <a:extLst>
                    <a:ext uri="{9D8B030D-6E8A-4147-A177-3AD203B41FA5}">
                      <a16:colId xmlns:a16="http://schemas.microsoft.com/office/drawing/2014/main" val="259494482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Typ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Opis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Przykład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5145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string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Tekst (ciąg znaków).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nn-NO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name: string = "Adam Kowalski";</a:t>
                      </a:r>
                      <a:endParaRPr lang="nn-NO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521324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number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Liczby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całkowite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zmiennoprzecinkowe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age: number = 30;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927603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 err="1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boolean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Wartość logiczna: </a:t>
                      </a:r>
                      <a:r>
                        <a:rPr lang="pl-PL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true</a:t>
                      </a: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lub </a:t>
                      </a:r>
                      <a:r>
                        <a:rPr lang="pl-PL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false</a:t>
                      </a: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isPassed: boolean = true;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5385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null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Celowy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brak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wartości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result: null = null;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5589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undefined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Zmienna zadeklarowana, ale bez przypisanej wartości.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data: undefined = undefined;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210402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493354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A7A8FF-9082-ABB2-F6AE-CACC1A457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Cechy typów prymitywnych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C46A3D-6C20-41E3-F2F8-FABF10618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l-PL" dirty="0"/>
              <a:t>Przechowywane są przez wartość (by value) a nie przez referencje</a:t>
            </a:r>
          </a:p>
          <a:p>
            <a:r>
              <a:rPr lang="pl-PL" dirty="0"/>
              <a:t>Każda operacja tworzy nową wartość</a:t>
            </a:r>
          </a:p>
          <a:p>
            <a:r>
              <a:rPr lang="pl-PL" dirty="0"/>
              <a:t>Są niemutowalne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33A31E-61E8-5F88-E9DC-A725E1376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6191" y="3053329"/>
            <a:ext cx="8439617" cy="1989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0119112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694DC9-B211-1559-64DC-286E6D0C463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Typy złożone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83929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50DBC65-A45C-9610-C368-6130A85B9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Typy </a:t>
            </a:r>
            <a:r>
              <a:rPr lang="pl-PL" dirty="0">
                <a:solidFill>
                  <a:srgbClr val="FF0000"/>
                </a:solidFill>
              </a:rPr>
              <a:t>złożone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C28E37-AB51-3C8B-A233-BCE993F1A1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marL="101600" indent="0">
              <a:buNone/>
            </a:pPr>
            <a:r>
              <a:rPr lang="pl-PL" dirty="0"/>
              <a:t>Typy złożone są niezbędne do modelowania rzeczywistych danych i struktur.</a:t>
            </a:r>
          </a:p>
          <a:p>
            <a:pPr marL="101600" indent="0">
              <a:buNone/>
            </a:pPr>
            <a:r>
              <a:rPr lang="pl-PL" dirty="0"/>
              <a:t>Są przechowywane przez referencje i są mutowalne (można je zmieniać)</a:t>
            </a:r>
          </a:p>
          <a:p>
            <a:pPr marL="101600" indent="0">
              <a:buNone/>
            </a:pPr>
            <a:endParaRPr lang="pl-PL" dirty="0"/>
          </a:p>
          <a:p>
            <a:pPr>
              <a:buFontTx/>
              <a:buChar char="-"/>
            </a:pPr>
            <a:r>
              <a:rPr lang="pl-PL" b="1" dirty="0"/>
              <a:t>Tablice (Array) </a:t>
            </a:r>
          </a:p>
          <a:p>
            <a:pPr marL="101600" indent="0">
              <a:buNone/>
            </a:pPr>
            <a:r>
              <a:rPr lang="pl-PL" dirty="0"/>
              <a:t>Uporządkowana lista elementów tego samego typu. </a:t>
            </a:r>
          </a:p>
          <a:p>
            <a:pPr marL="101600" indent="0">
              <a:buNone/>
            </a:pPr>
            <a:endParaRPr lang="pl-PL" dirty="0"/>
          </a:p>
          <a:p>
            <a:pPr>
              <a:buFontTx/>
              <a:buChar char="-"/>
            </a:pPr>
            <a:r>
              <a:rPr lang="pl-PL" b="1" dirty="0"/>
              <a:t>Krotki (Tuples)</a:t>
            </a:r>
          </a:p>
          <a:p>
            <a:pPr marL="101600" indent="0">
              <a:buNone/>
            </a:pPr>
            <a:r>
              <a:rPr lang="pl-PL" dirty="0"/>
              <a:t>Specjalny typ tablicy, w której </a:t>
            </a:r>
            <a:r>
              <a:rPr lang="pl-PL" b="1" dirty="0"/>
              <a:t>z góry określona jest liczba elementów</a:t>
            </a:r>
            <a:r>
              <a:rPr lang="pl-PL" dirty="0"/>
              <a:t> oraz </a:t>
            </a:r>
            <a:r>
              <a:rPr lang="pl-PL" b="1" dirty="0"/>
              <a:t>typ każdego elementu</a:t>
            </a:r>
            <a:r>
              <a:rPr lang="pl-PL" dirty="0"/>
              <a:t> na konkretnej pozycji.</a:t>
            </a:r>
          </a:p>
          <a:p>
            <a:pPr marL="101600" indent="0">
              <a:buNone/>
            </a:pPr>
            <a:endParaRPr lang="pl-PL" dirty="0"/>
          </a:p>
          <a:p>
            <a:pPr>
              <a:buFontTx/>
              <a:buChar char="-"/>
            </a:pPr>
            <a:r>
              <a:rPr lang="pl-PL" b="1" dirty="0"/>
              <a:t>Obiekty (Objects)</a:t>
            </a:r>
          </a:p>
          <a:p>
            <a:pPr marL="101600" indent="0">
              <a:buNone/>
            </a:pPr>
            <a:r>
              <a:rPr lang="pl-PL" dirty="0"/>
              <a:t>Służy do grupowania danych i funkcji w jedną jednostkę. Obiekty składają się z par </a:t>
            </a:r>
            <a:r>
              <a:rPr lang="pl-PL" b="1" dirty="0"/>
              <a:t>klucz:wartość</a:t>
            </a:r>
            <a:endParaRPr lang="en-GB" b="1" dirty="0"/>
          </a:p>
        </p:txBody>
      </p:sp>
    </p:spTree>
    <p:extLst>
      <p:ext uri="{BB962C8B-B14F-4D97-AF65-F5344CB8AC3E}">
        <p14:creationId xmlns:p14="http://schemas.microsoft.com/office/powerpoint/2010/main" val="8310788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E40CBB-E689-1C5F-5E38-905ABDE02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Przykłady typów złożonych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FD54E42-C63F-FE58-E335-A683BF02D4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996" y="1212491"/>
            <a:ext cx="9142007" cy="5071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4464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6B7C09-2880-6C67-454C-D16EBF3B0C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248250"/>
            <a:ext cx="12192000" cy="828600"/>
          </a:xfrm>
        </p:spPr>
        <p:txBody>
          <a:bodyPr/>
          <a:lstStyle/>
          <a:p>
            <a:r>
              <a:rPr lang="pl-PL" dirty="0"/>
              <a:t>Operatory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18111433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2972B2F4-423D-2567-993F-7CA79559DE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Operatory</a:t>
            </a:r>
            <a:endParaRPr lang="en-GB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3C4F6267-BBCA-20A2-C575-DCC05C3017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4566060"/>
              </p:ext>
            </p:extLst>
          </p:nvPr>
        </p:nvGraphicFramePr>
        <p:xfrm>
          <a:off x="838075" y="2014182"/>
          <a:ext cx="10515600" cy="3048000"/>
        </p:xfrm>
        <a:graphic>
          <a:graphicData uri="http://schemas.openxmlformats.org/drawingml/2006/table">
            <a:tbl>
              <a:tblPr/>
              <a:tblGrid>
                <a:gridCol w="1638869">
                  <a:extLst>
                    <a:ext uri="{9D8B030D-6E8A-4147-A177-3AD203B41FA5}">
                      <a16:colId xmlns:a16="http://schemas.microsoft.com/office/drawing/2014/main" val="2576633170"/>
                    </a:ext>
                  </a:extLst>
                </a:gridCol>
                <a:gridCol w="3618931">
                  <a:extLst>
                    <a:ext uri="{9D8B030D-6E8A-4147-A177-3AD203B41FA5}">
                      <a16:colId xmlns:a16="http://schemas.microsoft.com/office/drawing/2014/main" val="136761463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97409374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47983460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Kategoria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Operator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Przykład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Opis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9033891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Arytmetyczne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+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-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*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/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%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let sum = a + b;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Dodawanie, odejmowanie, mnożenie, dzielenie, reszta z dzielenia.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97160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Porównania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!=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&gt;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&lt;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&gt;=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&lt;=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if (a &gt; b)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Porównują wartości.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42842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Logiczne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&amp;&amp;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(AND)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;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|| (OR); ! (NOT)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 b="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If ((a &gt; b)  &amp;&amp; (b != 0))</a:t>
                      </a:r>
                      <a:endParaRPr lang="en-GB" sz="1600" b="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Do łączenia warunków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365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Przypisania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+=</a:t>
                      </a:r>
                      <a:r>
                        <a:rPr lang="en-GB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, </a:t>
                      </a: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-=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count += 1;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Przypisanie wartości lub wynik operacji.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039531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Równość</a:t>
                      </a:r>
                      <a:endParaRPr lang="en-GB" sz="1600" dirty="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0000"/>
                    </a:solidFill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 b="1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===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(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Ścisła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 </a:t>
                      </a:r>
                      <a:r>
                        <a:rPr lang="en-GB" sz="1600" dirty="0" err="1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równość</a:t>
                      </a:r>
                      <a:r>
                        <a:rPr lang="en-GB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)</a:t>
                      </a:r>
                    </a:p>
                  </a:txBody>
                  <a:tcPr marL="76200" marR="76200" marT="50800" marB="5080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en-GB" sz="160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if (a === b)</a:t>
                      </a:r>
                      <a:endParaRPr lang="en-GB" sz="1600">
                        <a:solidFill>
                          <a:srgbClr val="1F1F1F"/>
                        </a:solidFill>
                        <a:effectLst/>
                        <a:latin typeface="Google Sans Text"/>
                      </a:endParaRP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rtl="0">
                        <a:buNone/>
                      </a:pP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Porównuje </a:t>
                      </a:r>
                      <a:r>
                        <a:rPr lang="pl-PL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wartość i typ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 </a:t>
                      </a:r>
                      <a:r>
                        <a:rPr lang="pl-PL" sz="1600" b="1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Używać 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zamiast </a:t>
                      </a:r>
                      <a:r>
                        <a:rPr lang="pl-PL" sz="1600" dirty="0">
                          <a:solidFill>
                            <a:srgbClr val="444746"/>
                          </a:solidFill>
                          <a:effectLst/>
                          <a:latin typeface="Google Sans Text"/>
                        </a:rPr>
                        <a:t>==</a:t>
                      </a:r>
                      <a:r>
                        <a:rPr lang="pl-PL" sz="1600" dirty="0">
                          <a:solidFill>
                            <a:srgbClr val="1F1F1F"/>
                          </a:solidFill>
                          <a:effectLst/>
                          <a:latin typeface="Google Sans Text"/>
                        </a:rPr>
                        <a:t>.</a:t>
                      </a:r>
                    </a:p>
                  </a:txBody>
                  <a:tcPr marL="76200" marR="76200" marT="50800" marB="50800" anchor="ctr">
                    <a:lnL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700583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87172545-5536-00C7-5425-628F7639B0AB}"/>
              </a:ext>
            </a:extLst>
          </p:cNvPr>
          <p:cNvSpPr txBox="1"/>
          <p:nvPr/>
        </p:nvSpPr>
        <p:spPr>
          <a:xfrm>
            <a:off x="614149" y="1221475"/>
            <a:ext cx="112116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l-PL" sz="2000" dirty="0">
                <a:latin typeface="Poppins Light" panose="00000400000000000000" pitchFamily="2" charset="0"/>
                <a:cs typeface="Poppins Light" panose="00000400000000000000" pitchFamily="2" charset="0"/>
              </a:rPr>
              <a:t>Wykonują działania na wartościach.</a:t>
            </a:r>
            <a:endParaRPr lang="en-GB" sz="2000" dirty="0">
              <a:latin typeface="Poppins Light" panose="00000400000000000000" pitchFamily="2" charset="0"/>
              <a:cs typeface="Poppins Light" panose="000004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3488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200390C-EF2A-0929-D0D2-31C8BADB70F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Instrukcje warunkowe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4499203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49F1B392-7759-AD54-5AEE-D4FD25E58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Instrukcje warunkowe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4B1D14-A323-87FB-E8D3-657BC4A5A4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Instrukcje warunkowe to mechanizmy, które pozwalają programowi podejmować decyzje i wykonywać różne bloki kodu w zależności od tego, czy określony </a:t>
            </a:r>
            <a:r>
              <a:rPr lang="pl-PL" b="1" dirty="0"/>
              <a:t>warunek logiczny</a:t>
            </a:r>
            <a:r>
              <a:rPr lang="pl-PL" dirty="0"/>
              <a:t> jest prawdziwy </a:t>
            </a:r>
            <a:r>
              <a:rPr lang="pl-PL" b="1" dirty="0">
                <a:solidFill>
                  <a:srgbClr val="FF0000"/>
                </a:solidFill>
              </a:rPr>
              <a:t>(true)</a:t>
            </a:r>
            <a:r>
              <a:rPr lang="pl-PL" dirty="0"/>
              <a:t> czy fałszywy </a:t>
            </a:r>
            <a:r>
              <a:rPr lang="pl-PL" b="1" dirty="0">
                <a:solidFill>
                  <a:srgbClr val="FF0000"/>
                </a:solidFill>
              </a:rPr>
              <a:t>(false).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/>
              <a:t>Do tworzenia złożonych warunków używamy operatorów logicznych </a:t>
            </a:r>
            <a:r>
              <a:rPr lang="pl-PL" dirty="0">
                <a:solidFill>
                  <a:srgbClr val="FF0000"/>
                </a:solidFill>
              </a:rPr>
              <a:t>AND, OR, NOT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Najbardziej podstawową i najczęściej używaną instrukcją jest instrukcja </a:t>
            </a:r>
            <a:r>
              <a:rPr lang="pl-PL" dirty="0">
                <a:solidFill>
                  <a:srgbClr val="FF0000"/>
                </a:solidFill>
              </a:rPr>
              <a:t>IF</a:t>
            </a: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Składnia podstawowa:</a:t>
            </a:r>
            <a:endParaRPr lang="en-GB" dirty="0">
              <a:solidFill>
                <a:schemeClr val="bg2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5546587-2066-7441-8326-436A825BFF8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786" y="4833275"/>
            <a:ext cx="10024511" cy="1417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622482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C101D0-CCA9-7DD9-E6E6-E4D0B2397E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Rozszerzona składnia warunku </a:t>
            </a:r>
            <a:r>
              <a:rPr lang="pl-PL" dirty="0">
                <a:solidFill>
                  <a:srgbClr val="FF0000"/>
                </a:solidFill>
              </a:rPr>
              <a:t>IF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70042E-9ECA-474C-8C82-01E88A3F335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Rozszerzona składnia warunku to </a:t>
            </a:r>
            <a:r>
              <a:rPr lang="pl-PL" dirty="0">
                <a:solidFill>
                  <a:srgbClr val="FF0000"/>
                </a:solidFill>
              </a:rPr>
              <a:t>if...else. </a:t>
            </a:r>
            <a:r>
              <a:rPr lang="pl-PL" dirty="0">
                <a:solidFill>
                  <a:schemeClr val="bg2"/>
                </a:solidFill>
              </a:rPr>
              <a:t>Jeśli warunek jest fałszywy to wykonywany jest blok else.</a:t>
            </a: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chemeClr val="bg2"/>
              </a:solidFill>
            </a:endParaRPr>
          </a:p>
          <a:p>
            <a:pPr marL="101600" indent="0">
              <a:buNone/>
            </a:pPr>
            <a:r>
              <a:rPr lang="pl-PL" dirty="0">
                <a:solidFill>
                  <a:schemeClr val="bg2"/>
                </a:solidFill>
              </a:rPr>
              <a:t>Sprawdzanie wielokrotnych warunków jest możliwe dzięki zastosowaniu </a:t>
            </a:r>
            <a:r>
              <a:rPr lang="pl-PL" dirty="0">
                <a:solidFill>
                  <a:srgbClr val="FF0000"/>
                </a:solidFill>
              </a:rPr>
              <a:t>if...else if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endParaRPr lang="en-GB" dirty="0">
              <a:solidFill>
                <a:schemeClr val="bg2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01D305A-80D8-21E7-262C-A6D4388F16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60781" y="2086791"/>
            <a:ext cx="6768460" cy="149744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7AC8E331-4B0D-8E94-4930-3CCF72061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0781" y="4168198"/>
            <a:ext cx="7702946" cy="19304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0798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83955-E57F-55C7-36EE-EA8B71F998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Instrukcja </a:t>
            </a:r>
            <a:r>
              <a:rPr lang="pl-PL" dirty="0">
                <a:solidFill>
                  <a:srgbClr val="FF0000"/>
                </a:solidFill>
              </a:rPr>
              <a:t>try...catch...finally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80C7DB-2510-3DDC-8CF4-6A21390C610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Instrukcja </a:t>
            </a:r>
            <a:r>
              <a:rPr lang="pl-PL" b="1" dirty="0">
                <a:solidFill>
                  <a:srgbClr val="FF0000"/>
                </a:solidFill>
              </a:rPr>
              <a:t>try...catch </a:t>
            </a:r>
            <a:r>
              <a:rPr lang="pl-PL" dirty="0"/>
              <a:t>jest kluczowym elementem w zarządzaniu błędami (error handling) w JavaScript i TypeScript. Pozwala na </a:t>
            </a:r>
            <a:r>
              <a:rPr lang="pl-PL" b="1" dirty="0">
                <a:solidFill>
                  <a:srgbClr val="FF0000"/>
                </a:solidFill>
              </a:rPr>
              <a:t>bezpieczne wykonanie kodu</a:t>
            </a:r>
            <a:r>
              <a:rPr lang="pl-PL" dirty="0"/>
              <a:t>, który może potencjalnie zakończyć się niepowodzeniem, a następnie eleganckie </a:t>
            </a:r>
            <a:r>
              <a:rPr lang="pl-PL" b="1" dirty="0">
                <a:solidFill>
                  <a:srgbClr val="FF0000"/>
                </a:solidFill>
              </a:rPr>
              <a:t>obsłużenie tego błędu</a:t>
            </a:r>
            <a:r>
              <a:rPr lang="pl-PL" dirty="0">
                <a:solidFill>
                  <a:srgbClr val="FF0000"/>
                </a:solidFill>
              </a:rPr>
              <a:t>, </a:t>
            </a:r>
            <a:r>
              <a:rPr lang="pl-PL" dirty="0"/>
              <a:t>zamiast pozwolić, aby program awaryjnie się zatrzymał.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A1DFD03-4D6E-5278-5429-02E119EAE0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780" y="2798209"/>
            <a:ext cx="7606439" cy="36762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91348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04D4B46-6851-7644-81F6-AB0E960ACF4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pl-PL" dirty="0"/>
              <a:t>Pętle i iteracje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56544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AB9EAFB-DCCA-5D83-ACDC-BBC2B80E6D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Pętla </a:t>
            </a:r>
            <a:r>
              <a:rPr lang="pl-PL" dirty="0">
                <a:solidFill>
                  <a:srgbClr val="FF0000"/>
                </a:solidFill>
              </a:rPr>
              <a:t>for</a:t>
            </a:r>
            <a:r>
              <a:rPr lang="pl-PL" dirty="0"/>
              <a:t> </a:t>
            </a:r>
            <a:endParaRPr lang="en-GB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D6B5E6-DE5F-29F9-1524-799EE33159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Najczęściej używana pętla. Używana, gdy znamy (lub możemy obliczyć) dokładną liczbę powtórzeń.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Składnia:</a:t>
            </a:r>
            <a:r>
              <a:rPr lang="pl-PL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rgbClr val="FF0000"/>
                </a:solidFill>
              </a:rPr>
              <a:t>	</a:t>
            </a:r>
            <a:r>
              <a:rPr lang="pl-PL" b="1" dirty="0">
                <a:solidFill>
                  <a:schemeClr val="accent1"/>
                </a:solidFill>
              </a:rPr>
              <a:t>for</a:t>
            </a:r>
            <a:r>
              <a:rPr lang="pl-PL" dirty="0"/>
              <a:t> (</a:t>
            </a:r>
            <a:r>
              <a:rPr lang="pl-PL" dirty="0">
                <a:solidFill>
                  <a:schemeClr val="accent2"/>
                </a:solidFill>
              </a:rPr>
              <a:t>inicjalizacja</a:t>
            </a:r>
            <a:r>
              <a:rPr lang="pl-PL" dirty="0"/>
              <a:t>; </a:t>
            </a:r>
            <a:r>
              <a:rPr lang="pl-PL" dirty="0">
                <a:solidFill>
                  <a:schemeClr val="accent6">
                    <a:lumMod val="50000"/>
                  </a:schemeClr>
                </a:solidFill>
              </a:rPr>
              <a:t>warunek</a:t>
            </a:r>
            <a:r>
              <a:rPr lang="pl-PL" dirty="0"/>
              <a:t>; </a:t>
            </a:r>
            <a:r>
              <a:rPr lang="pl-PL" dirty="0">
                <a:solidFill>
                  <a:srgbClr val="7030A0"/>
                </a:solidFill>
              </a:rPr>
              <a:t>inkrementacja</a:t>
            </a:r>
            <a:r>
              <a:rPr lang="pl-PL" dirty="0"/>
              <a:t>) {kod wykonywany w pętli}</a:t>
            </a: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443E7E9-83E7-38B4-5A17-C341E563B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48530" y="3546541"/>
            <a:ext cx="8494939" cy="17283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79025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90C57-802D-23FD-7002-2D3C67A19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Pętla </a:t>
            </a:r>
            <a:r>
              <a:rPr lang="pl-PL" dirty="0">
                <a:solidFill>
                  <a:srgbClr val="FF0000"/>
                </a:solidFill>
              </a:rPr>
              <a:t>while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603FC5-BEB5-0BB0-CC68-5F53F77D1A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Pętla wykonuje się tak długo, jak długo podany warunek jest </a:t>
            </a:r>
            <a:r>
              <a:rPr lang="pl-PL" b="1" dirty="0"/>
              <a:t>prawdziwy</a:t>
            </a:r>
            <a:r>
              <a:rPr lang="pl-PL" dirty="0"/>
              <a:t> (true). Użyteczna, gdy nie wiemy z góry, ile razy pętla się wykona (np. czekanie na stan elementu).</a:t>
            </a:r>
          </a:p>
          <a:p>
            <a:pPr marL="101600" indent="0">
              <a:buNone/>
            </a:pPr>
            <a:endParaRPr lang="pl-PL" b="1" dirty="0"/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Składnia:</a:t>
            </a:r>
            <a:r>
              <a:rPr lang="pl-PL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rgbClr val="FF0000"/>
                </a:solidFill>
              </a:rPr>
              <a:t>	</a:t>
            </a:r>
            <a:r>
              <a:rPr lang="pl-PL" dirty="0">
                <a:solidFill>
                  <a:schemeClr val="accent1"/>
                </a:solidFill>
              </a:rPr>
              <a:t>while</a:t>
            </a:r>
            <a:r>
              <a:rPr lang="pl-PL" dirty="0"/>
              <a:t> (</a:t>
            </a:r>
            <a:r>
              <a:rPr lang="pl-PL" dirty="0">
                <a:solidFill>
                  <a:schemeClr val="accent2"/>
                </a:solidFill>
              </a:rPr>
              <a:t>warunek</a:t>
            </a:r>
            <a:r>
              <a:rPr lang="pl-PL" dirty="0"/>
              <a:t>) {kod wykonywany w pętli}</a:t>
            </a:r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6F1DDAC-BA74-CBC9-719F-9A861E6779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2737" y="3121460"/>
            <a:ext cx="7606526" cy="2687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5761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C2C9DC-8506-641F-0813-8C3184FFDB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Pętla </a:t>
            </a:r>
            <a:r>
              <a:rPr lang="pl-PL" dirty="0">
                <a:solidFill>
                  <a:schemeClr val="accent1"/>
                </a:solidFill>
              </a:rPr>
              <a:t>do...while</a:t>
            </a:r>
            <a:endParaRPr lang="en-GB" dirty="0">
              <a:solidFill>
                <a:schemeClr val="accent1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4A44532-8197-A8F5-5871-320456C0BD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Podobna do while, ale warunek jest sprawdzany </a:t>
            </a:r>
            <a:r>
              <a:rPr lang="pl-PL" b="1" dirty="0"/>
              <a:t>po</a:t>
            </a:r>
            <a:r>
              <a:rPr lang="pl-PL" dirty="0"/>
              <a:t> wykonaniu bloku kodu. Oznacza to, że blok kodu zostanie wykonany </a:t>
            </a:r>
            <a:r>
              <a:rPr lang="pl-PL" b="1" dirty="0"/>
              <a:t>przynajmniej raz</a:t>
            </a:r>
            <a:r>
              <a:rPr lang="pl-PL" dirty="0"/>
              <a:t>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b="1" dirty="0">
                <a:solidFill>
                  <a:schemeClr val="bg2"/>
                </a:solidFill>
              </a:rPr>
              <a:t>Składnia:</a:t>
            </a:r>
            <a:r>
              <a:rPr lang="pl-PL" dirty="0">
                <a:solidFill>
                  <a:schemeClr val="bg2"/>
                </a:solidFill>
              </a:rPr>
              <a:t> </a:t>
            </a:r>
            <a:r>
              <a:rPr lang="pl-PL" dirty="0">
                <a:solidFill>
                  <a:srgbClr val="FF0000"/>
                </a:solidFill>
              </a:rPr>
              <a:t>	do </a:t>
            </a:r>
            <a:r>
              <a:rPr lang="pl-PL" dirty="0">
                <a:solidFill>
                  <a:schemeClr val="bg2"/>
                </a:solidFill>
              </a:rPr>
              <a:t>{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accent2"/>
                </a:solidFill>
              </a:rPr>
              <a:t>akcja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>
                <a:solidFill>
                  <a:schemeClr val="bg2"/>
                </a:solidFill>
              </a:rPr>
              <a:t>}</a:t>
            </a:r>
            <a:r>
              <a:rPr lang="pl-PL" dirty="0">
                <a:solidFill>
                  <a:srgbClr val="FF0000"/>
                </a:solidFill>
              </a:rPr>
              <a:t> while</a:t>
            </a:r>
            <a:r>
              <a:rPr lang="pl-PL" dirty="0"/>
              <a:t> ( </a:t>
            </a:r>
            <a:r>
              <a:rPr lang="pl-PL" dirty="0">
                <a:solidFill>
                  <a:schemeClr val="accent6">
                    <a:lumMod val="50000"/>
                  </a:schemeClr>
                </a:solidFill>
              </a:rPr>
              <a:t>warunek</a:t>
            </a:r>
            <a:r>
              <a:rPr lang="pl-PL" dirty="0"/>
              <a:t> )</a:t>
            </a:r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26A3B2E-AA38-4D51-B01D-8100F3671E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8778" y="3345177"/>
            <a:ext cx="6626294" cy="2059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14894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D8780-B7B4-BD0F-2212-D13A0F38B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Iteracja po kolekcjach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1FD8D4-BA2E-F56F-DBC2-06AFF7C51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Najczystszy sposób na iterację po elementach </a:t>
            </a:r>
            <a:r>
              <a:rPr lang="pl-PL" b="1" dirty="0"/>
              <a:t>tablic</a:t>
            </a:r>
            <a:r>
              <a:rPr lang="pl-PL" dirty="0"/>
              <a:t> lub innych obiektach iterowalnych. Zdecydowanie zalecany w testach przy przetwarzaniu list danych.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3C0040A-82EC-C171-B1F6-8FF9295685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5552" y="2739989"/>
            <a:ext cx="8320895" cy="1818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852005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0E7B2E-F599-E8FB-6EF6-55DC654072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151450"/>
            <a:ext cx="12192000" cy="828600"/>
          </a:xfrm>
        </p:spPr>
        <p:txBody>
          <a:bodyPr/>
          <a:lstStyle/>
          <a:p>
            <a:r>
              <a:rPr lang="pl-PL" dirty="0"/>
              <a:t>Funkcje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7992115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C7A9DC3-AD26-977E-D371-2B39028AEF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Funkcje </a:t>
            </a:r>
            <a:r>
              <a:rPr lang="pl-PL" dirty="0">
                <a:solidFill>
                  <a:srgbClr val="FF0000"/>
                </a:solidFill>
              </a:rPr>
              <a:t>klasyczne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606FF26-A7A6-4C7E-5892-8639906004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Funkcja to podstawowy blok konstrukcyjny pozwalający na wielokrotne wykorzystanie kodu. W TypeScript deklaracja funkcji jasno określa </a:t>
            </a:r>
            <a:r>
              <a:rPr lang="pl-PL" b="1" dirty="0">
                <a:solidFill>
                  <a:srgbClr val="FF0000"/>
                </a:solidFill>
              </a:rPr>
              <a:t>typ parametrów wejściowych</a:t>
            </a:r>
            <a:r>
              <a:rPr lang="pl-PL" dirty="0"/>
              <a:t> i </a:t>
            </a:r>
            <a:r>
              <a:rPr lang="pl-PL" b="1" dirty="0">
                <a:solidFill>
                  <a:srgbClr val="FF0000"/>
                </a:solidFill>
              </a:rPr>
              <a:t>typ wartości zwracanej</a:t>
            </a:r>
            <a:r>
              <a:rPr lang="pl-PL" dirty="0"/>
              <a:t>, co jest fundamentalne dla bezpieczeństwa kodu.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696F184-03E0-BCDD-6C5B-C23BBA90D7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8208" y="2622504"/>
            <a:ext cx="7455583" cy="37211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14597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C8DAD9-8276-7B4F-67E2-ED40BBB416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Funkcje </a:t>
            </a:r>
            <a:r>
              <a:rPr lang="pl-PL" dirty="0">
                <a:solidFill>
                  <a:srgbClr val="FF0000"/>
                </a:solidFill>
              </a:rPr>
              <a:t>strzałkowe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89BF047-6CBE-188C-5458-6CEB8FC835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Funkcje strzałkowe (=&gt;) zostały wprowadzone w ES6 i są obecnie </a:t>
            </a:r>
            <a:r>
              <a:rPr lang="pl-PL" b="1" dirty="0">
                <a:solidFill>
                  <a:srgbClr val="FF0000"/>
                </a:solidFill>
              </a:rPr>
              <a:t>preferowanym</a:t>
            </a:r>
            <a:r>
              <a:rPr lang="pl-PL" dirty="0"/>
              <a:t> sposobem definiowania funkcji w Typescript, zwłaszcza jako argumenty innych funkcji lub metody w klasach.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Jeśli funkcja ma tylko jedną instrukcję, która jest instrukcją return, można pominąć nawiasy klamrowe {} i słowo kluczowe return.</a:t>
            </a:r>
            <a:endParaRPr lang="en-GB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B3969E7-DC32-B0FE-33C9-A5524002F2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24211" y="2400286"/>
            <a:ext cx="8415428" cy="137796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F395D3B-67D7-777B-5E44-A6DA4B651D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754" y="4870436"/>
            <a:ext cx="8534492" cy="12192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744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4C3AF-740E-A096-0996-7A06A32809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Funkcje </a:t>
            </a:r>
            <a:r>
              <a:rPr lang="pl-PL" dirty="0">
                <a:solidFill>
                  <a:srgbClr val="FF0000"/>
                </a:solidFill>
              </a:rPr>
              <a:t>strzałkowe</a:t>
            </a:r>
            <a:r>
              <a:rPr lang="pl-PL" dirty="0"/>
              <a:t> jako argumenty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518E91C-5F35-D39D-7283-E13056A63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W testach automatycznych funkcje strzałkowe są niemal zawsze używane jako argumenty do metod frameworków </a:t>
            </a:r>
            <a:r>
              <a:rPr lang="pl-PL" b="1" dirty="0">
                <a:solidFill>
                  <a:srgbClr val="FF0000"/>
                </a:solidFill>
              </a:rPr>
              <a:t>(callbacki).</a:t>
            </a:r>
            <a:endParaRPr lang="en-GB" b="1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65FA20-0231-2BA5-B231-11352E3C41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4802" y="3016228"/>
            <a:ext cx="8674245" cy="19748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86377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917A0C9-2914-8AA9-4F72-810F46452B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3354650"/>
            <a:ext cx="12192000" cy="828600"/>
          </a:xfrm>
        </p:spPr>
        <p:txBody>
          <a:bodyPr/>
          <a:lstStyle/>
          <a:p>
            <a:r>
              <a:rPr lang="pl-PL" dirty="0"/>
              <a:t>Obiekty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8578528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5682B59-CB4B-7F6E-7580-2E4360F57B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Definicja oraz składnia </a:t>
            </a:r>
            <a:r>
              <a:rPr lang="pl-PL" dirty="0">
                <a:solidFill>
                  <a:srgbClr val="FF0000"/>
                </a:solidFill>
              </a:rPr>
              <a:t>obiektu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1633846-417A-E163-5253-C74172D2EE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Obiekt to zbiór danych (właściwości) i funkcjonalności (metod) powiązanych ze sobą w jedną strukturę. W JavaScript/TypeScript, obiekty są strukturami typu </a:t>
            </a:r>
            <a:r>
              <a:rPr lang="pl-PL" b="1" dirty="0"/>
              <a:t>klucz-wartość</a:t>
            </a:r>
            <a:r>
              <a:rPr lang="pl-PL" dirty="0"/>
              <a:t> (key-value pairs).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pl-PL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0BC1F9-0FAD-7751-825D-A27F5D8D06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93972" y="2186372"/>
            <a:ext cx="6683478" cy="42049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456975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D70480-D0F4-AEA5-BC8F-70CDD50FF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Typowanie </a:t>
            </a:r>
            <a:r>
              <a:rPr lang="pl-PL" dirty="0">
                <a:solidFill>
                  <a:srgbClr val="FF0000"/>
                </a:solidFill>
              </a:rPr>
              <a:t>obiektów</a:t>
            </a:r>
            <a:r>
              <a:rPr lang="pl-PL" dirty="0"/>
              <a:t> 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CABF294-A9E9-4E5D-DBFF-8087F19CE1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Czysty JavaScript nie sprawdza, czy obiekt ma oczekiwane właściwości, co prowadzi do błędów w czasie wykonania. </a:t>
            </a:r>
            <a:r>
              <a:rPr lang="pl-PL" b="1" dirty="0">
                <a:solidFill>
                  <a:srgbClr val="FF0000"/>
                </a:solidFill>
              </a:rPr>
              <a:t>TypeScript rozwiązuje ten problem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/>
              <a:t>poprzez użycie </a:t>
            </a:r>
            <a:r>
              <a:rPr lang="pl-PL" b="1" dirty="0">
                <a:solidFill>
                  <a:srgbClr val="FF0000"/>
                </a:solidFill>
              </a:rPr>
              <a:t>interfejsów.</a:t>
            </a:r>
          </a:p>
          <a:p>
            <a:pPr marL="101600" indent="0">
              <a:buNone/>
            </a:pPr>
            <a:endParaRPr lang="pl-PL" b="1" dirty="0">
              <a:solidFill>
                <a:srgbClr val="FF0000"/>
              </a:solidFill>
            </a:endParaRPr>
          </a:p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Interfejsy</a:t>
            </a:r>
            <a:r>
              <a:rPr lang="pl-PL" dirty="0"/>
              <a:t> definiują </a:t>
            </a:r>
            <a:r>
              <a:rPr lang="pl-PL" b="1" dirty="0">
                <a:solidFill>
                  <a:srgbClr val="FF0000"/>
                </a:solidFill>
              </a:rPr>
              <a:t>kontrakt</a:t>
            </a:r>
            <a:r>
              <a:rPr lang="pl-PL" dirty="0"/>
              <a:t> – określają, jakie nazwy właściwości (klucze) muszą istnieć w obiekcie i jakiego typu (string, number, boolean itd.) muszą być ich wartości.</a:t>
            </a:r>
            <a:endParaRPr lang="en-GB" dirty="0">
              <a:solidFill>
                <a:srgbClr val="FF0000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3A1C6A5-59BC-9DBB-677E-DAA4362435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3904" y="3535193"/>
            <a:ext cx="6486646" cy="28790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4704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51C88-4CF4-E93F-4E9D-9E42CF46BC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/>
              <a:t>Destrukturyzacja </a:t>
            </a:r>
            <a:r>
              <a:rPr lang="pl-PL" dirty="0">
                <a:solidFill>
                  <a:srgbClr val="FF0000"/>
                </a:solidFill>
              </a:rPr>
              <a:t>obiektów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3FCFF0-11E3-801E-10DD-CD774E4A4B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2750" y="1500250"/>
            <a:ext cx="11566500" cy="4538100"/>
          </a:xfrm>
        </p:spPr>
        <p:txBody>
          <a:bodyPr/>
          <a:lstStyle/>
          <a:p>
            <a:pPr marL="101600" indent="0">
              <a:buNone/>
            </a:pPr>
            <a:r>
              <a:rPr lang="pl-PL" dirty="0"/>
              <a:t>Destrukturyzacja to wygodna i powszechnie używana składnia pozwalająca na szybkie "wyciągnięcie" właściwości z obiektu i przypisanie ich do lokalnych zmiennych.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59365AE-6BAE-7485-F2BB-690F2DA7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78128" y="2612987"/>
            <a:ext cx="6035744" cy="3265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4630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88AABC-44A3-1BE6-AE27-263E0CF27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>
                <a:solidFill>
                  <a:schemeClr val="tx1"/>
                </a:solidFill>
              </a:rPr>
              <a:t>Konstruktory i tworzenie </a:t>
            </a:r>
            <a:r>
              <a:rPr lang="pl-PL" dirty="0">
                <a:solidFill>
                  <a:srgbClr val="FF0000"/>
                </a:solidFill>
              </a:rPr>
              <a:t>instancji</a:t>
            </a:r>
            <a:endParaRPr lang="en-GB" dirty="0">
              <a:solidFill>
                <a:srgbClr val="FF0000"/>
              </a:solidFill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C6FD02-86DF-5D91-556D-9DAD62A29E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b="1" dirty="0">
                <a:solidFill>
                  <a:srgbClr val="FF0000"/>
                </a:solidFill>
              </a:rPr>
              <a:t>Konstruktor</a:t>
            </a:r>
            <a:r>
              <a:rPr lang="pl-PL" dirty="0"/>
              <a:t> to specjalna metoda wewnątrz </a:t>
            </a:r>
            <a:r>
              <a:rPr lang="pl-PL" b="1" dirty="0">
                <a:solidFill>
                  <a:srgbClr val="FF0000"/>
                </a:solidFill>
              </a:rPr>
              <a:t>klasy</a:t>
            </a:r>
            <a:r>
              <a:rPr lang="pl-PL" b="1" dirty="0"/>
              <a:t>, </a:t>
            </a:r>
            <a:r>
              <a:rPr lang="pl-PL" dirty="0"/>
              <a:t>która jest wywoływana automatycznie w momencie </a:t>
            </a:r>
            <a:r>
              <a:rPr lang="pl-PL" b="1" dirty="0">
                <a:solidFill>
                  <a:srgbClr val="FF0000"/>
                </a:solidFill>
              </a:rPr>
              <a:t>tworzenia nowego obiektu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/>
              <a:t>(instancji) tej klasy.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EE7A05F-481D-8E65-6CC9-A11046D3D5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43038" y="2597476"/>
            <a:ext cx="5505923" cy="32485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5446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868858-B058-4F7C-5E57-615DA7CD3A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pl-PL" dirty="0">
                <a:solidFill>
                  <a:schemeClr val="tx1"/>
                </a:solidFill>
              </a:rPr>
              <a:t>Konstruktory i tworzenie </a:t>
            </a:r>
            <a:r>
              <a:rPr lang="pl-PL" dirty="0">
                <a:solidFill>
                  <a:srgbClr val="FF0000"/>
                </a:solidFill>
              </a:rPr>
              <a:t>instancji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F88D0CA-EBF3-62C2-00B6-5452CE850B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01600" indent="0">
              <a:buNone/>
            </a:pPr>
            <a:r>
              <a:rPr lang="pl-PL" dirty="0"/>
              <a:t>Operator </a:t>
            </a:r>
            <a:r>
              <a:rPr lang="pl-PL" b="1" dirty="0">
                <a:solidFill>
                  <a:srgbClr val="FF0000"/>
                </a:solidFill>
              </a:rPr>
              <a:t>new</a:t>
            </a:r>
            <a:r>
              <a:rPr lang="pl-PL" dirty="0"/>
              <a:t> służy do </a:t>
            </a:r>
            <a:r>
              <a:rPr lang="pl-PL" b="1" dirty="0">
                <a:solidFill>
                  <a:srgbClr val="FF0000"/>
                </a:solidFill>
              </a:rPr>
              <a:t>wywołania konstruktora</a:t>
            </a:r>
            <a:r>
              <a:rPr lang="pl-PL" dirty="0">
                <a:solidFill>
                  <a:srgbClr val="FF0000"/>
                </a:solidFill>
              </a:rPr>
              <a:t> </a:t>
            </a:r>
            <a:r>
              <a:rPr lang="pl-PL" dirty="0"/>
              <a:t>i faktycznego stworzenia obiektu w pamięci.</a:t>
            </a:r>
          </a:p>
          <a:p>
            <a:pPr marL="101600" indent="0">
              <a:buNone/>
            </a:pPr>
            <a:endParaRPr lang="pl-PL" dirty="0"/>
          </a:p>
          <a:p>
            <a:pPr marL="101600" indent="0">
              <a:buNone/>
            </a:pPr>
            <a:r>
              <a:rPr lang="pl-PL" dirty="0"/>
              <a:t>Co robi operator </a:t>
            </a:r>
            <a:r>
              <a:rPr lang="pl-PL" b="1" dirty="0">
                <a:solidFill>
                  <a:srgbClr val="FF0000"/>
                </a:solidFill>
              </a:rPr>
              <a:t>new?</a:t>
            </a:r>
          </a:p>
          <a:p>
            <a:pPr marL="101600" indent="0">
              <a:buNone/>
            </a:pPr>
            <a:endParaRPr lang="pl-PL" dirty="0">
              <a:solidFill>
                <a:srgbClr val="FF0000"/>
              </a:solidFill>
            </a:endParaRPr>
          </a:p>
          <a:p>
            <a:pPr marL="901700" lvl="1" indent="-342900">
              <a:buFont typeface="+mj-lt"/>
              <a:buAutoNum type="arabicPeriod"/>
            </a:pPr>
            <a:r>
              <a:rPr lang="pl-PL" dirty="0">
                <a:solidFill>
                  <a:schemeClr val="tx1"/>
                </a:solidFill>
              </a:rPr>
              <a:t>Tworzy nowy, pusty obiekt</a:t>
            </a:r>
          </a:p>
          <a:p>
            <a:pPr marL="901700" lvl="1" indent="-342900">
              <a:buFont typeface="+mj-lt"/>
              <a:buAutoNum type="arabicPeriod"/>
            </a:pPr>
            <a:r>
              <a:rPr lang="pl-PL" dirty="0">
                <a:solidFill>
                  <a:schemeClr val="tx1"/>
                </a:solidFill>
              </a:rPr>
              <a:t>Wewnątrz konstruktora, słowo kluczowe this zostaje powiązane z nowo utworzonym obiektem</a:t>
            </a:r>
          </a:p>
          <a:p>
            <a:pPr marL="901700" lvl="1" indent="-342900">
              <a:buFont typeface="+mj-lt"/>
              <a:buAutoNum type="arabicPeriod"/>
            </a:pPr>
            <a:r>
              <a:rPr lang="pl-PL" dirty="0">
                <a:solidFill>
                  <a:schemeClr val="tx1"/>
                </a:solidFill>
              </a:rPr>
              <a:t>Wywoływany jest konstruktor</a:t>
            </a:r>
          </a:p>
          <a:p>
            <a:pPr marL="901700" lvl="1" indent="-342900">
              <a:buFont typeface="+mj-lt"/>
              <a:buAutoNum type="arabicPeriod"/>
            </a:pPr>
            <a:r>
              <a:rPr lang="pl-PL" dirty="0">
                <a:solidFill>
                  <a:schemeClr val="tx1"/>
                </a:solidFill>
              </a:rPr>
              <a:t>Zwrócony jest obiekt</a:t>
            </a:r>
          </a:p>
        </p:txBody>
      </p:sp>
      <p:pic>
        <p:nvPicPr>
          <p:cNvPr id="5" name="Picture 4" descr="A computer code with text&#10;&#10;AI-generated content may be incorrect.">
            <a:extLst>
              <a:ext uri="{FF2B5EF4-FFF2-40B4-BE49-F238E27FC236}">
                <a16:creationId xmlns:a16="http://schemas.microsoft.com/office/drawing/2014/main" id="{2BC130DE-863E-347C-C2FD-6DD8BC68F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89412" y="4645585"/>
            <a:ext cx="7413176" cy="17457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2108990"/>
      </p:ext>
    </p:extLst>
  </p:cSld>
  <p:clrMapOvr>
    <a:masterClrMapping/>
  </p:clrMapOvr>
</p:sld>
</file>

<file path=ppt/theme/theme1.xml><?xml version="1.0" encoding="utf-8"?>
<a:theme xmlns:a="http://schemas.openxmlformats.org/drawingml/2006/main" name="iSA - google slides">
  <a:themeElements>
    <a:clrScheme name="infoShare Academy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F20B32"/>
      </a:accent1>
      <a:accent2>
        <a:srgbClr val="5500FC"/>
      </a:accent2>
      <a:accent3>
        <a:srgbClr val="01F9FB"/>
      </a:accent3>
      <a:accent4>
        <a:srgbClr val="F20B32"/>
      </a:accent4>
      <a:accent5>
        <a:srgbClr val="5500FC"/>
      </a:accent5>
      <a:accent6>
        <a:srgbClr val="01F9FB"/>
      </a:accent6>
      <a:hlink>
        <a:srgbClr val="F20B32"/>
      </a:hlink>
      <a:folHlink>
        <a:srgbClr val="5500F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2390</TotalTime>
  <Words>1977</Words>
  <Application>Microsoft Office PowerPoint</Application>
  <PresentationFormat>Widescreen</PresentationFormat>
  <Paragraphs>280</Paragraphs>
  <Slides>46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5" baseType="lpstr">
      <vt:lpstr>Calibri</vt:lpstr>
      <vt:lpstr>Poppins Light</vt:lpstr>
      <vt:lpstr>Google Sans Text</vt:lpstr>
      <vt:lpstr>Arial</vt:lpstr>
      <vt:lpstr>Poppins Black</vt:lpstr>
      <vt:lpstr>Poppins</vt:lpstr>
      <vt:lpstr>Noto Sans Symbols</vt:lpstr>
      <vt:lpstr>Poppins Medium</vt:lpstr>
      <vt:lpstr>iSA - google slides</vt:lpstr>
      <vt:lpstr>Podstawy JavaScript/TypeScript</vt:lpstr>
      <vt:lpstr>PowerPoint Presentation</vt:lpstr>
      <vt:lpstr>Agenda dzisiejszego dnia</vt:lpstr>
      <vt:lpstr>Czym jest JavaScript i TypeScript?</vt:lpstr>
      <vt:lpstr>Czym jest JavaScript (JS)?</vt:lpstr>
      <vt:lpstr>Czym jest TypeScript (TS)?</vt:lpstr>
      <vt:lpstr>JavaScript vs. TypeScript</vt:lpstr>
      <vt:lpstr>Główne różnice pomiędzy JS a TS</vt:lpstr>
      <vt:lpstr>Dlaczego warto uczyć się TypeScript w kontekście testów automatycznych?</vt:lpstr>
      <vt:lpstr>Co jest potrzebne do pracy z TypeScript?</vt:lpstr>
      <vt:lpstr>Środowisko uruchomieniowe – Node.JS</vt:lpstr>
      <vt:lpstr>Menadżer pakietów – npm </vt:lpstr>
      <vt:lpstr>Kompilator TypeScript - tsc</vt:lpstr>
      <vt:lpstr>Edytor kodu (IDE)</vt:lpstr>
      <vt:lpstr>Zmienne</vt:lpstr>
      <vt:lpstr>Syntax tworzenia zmiennych</vt:lpstr>
      <vt:lpstr>Zmienne – let, const i var</vt:lpstr>
      <vt:lpstr>Zasady nazywania zmiennych</vt:lpstr>
      <vt:lpstr>Co tutaj jest nie tak?</vt:lpstr>
      <vt:lpstr>Typy danych</vt:lpstr>
      <vt:lpstr>Typy prymitywne</vt:lpstr>
      <vt:lpstr>Cechy typów prymitywnych</vt:lpstr>
      <vt:lpstr>Typy złożone</vt:lpstr>
      <vt:lpstr>Typy złożone</vt:lpstr>
      <vt:lpstr>Przykłady typów złożonych</vt:lpstr>
      <vt:lpstr>Operatory</vt:lpstr>
      <vt:lpstr>Operatory</vt:lpstr>
      <vt:lpstr>Instrukcje warunkowe</vt:lpstr>
      <vt:lpstr>Instrukcje warunkowe</vt:lpstr>
      <vt:lpstr>Rozszerzona składnia warunku IF</vt:lpstr>
      <vt:lpstr>Instrukcja try...catch...finally</vt:lpstr>
      <vt:lpstr>Pętle i iteracje</vt:lpstr>
      <vt:lpstr>Pętla for </vt:lpstr>
      <vt:lpstr>Pętla while</vt:lpstr>
      <vt:lpstr>Pętla do...while</vt:lpstr>
      <vt:lpstr>Iteracja po kolekcjach</vt:lpstr>
      <vt:lpstr>Funkcje</vt:lpstr>
      <vt:lpstr>Funkcje klasyczne</vt:lpstr>
      <vt:lpstr>Funkcje strzałkowe</vt:lpstr>
      <vt:lpstr>Funkcje strzałkowe jako argumenty</vt:lpstr>
      <vt:lpstr>Obiekty</vt:lpstr>
      <vt:lpstr>Definicja oraz składnia obiektu</vt:lpstr>
      <vt:lpstr>Typowanie obiektów </vt:lpstr>
      <vt:lpstr>Destrukturyzacja obiektów</vt:lpstr>
      <vt:lpstr>Konstruktory i tworzenie instancji</vt:lpstr>
      <vt:lpstr>Konstruktory i tworzenie instancji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NEW LAYOUT PRESENTATION</dc:title>
  <cp:lastModifiedBy>Igor Czyrski</cp:lastModifiedBy>
  <cp:revision>7</cp:revision>
  <dcterms:modified xsi:type="dcterms:W3CDTF">2025-12-09T15:50:52Z</dcterms:modified>
</cp:coreProperties>
</file>